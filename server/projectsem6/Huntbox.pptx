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75" r:id="rId3"/>
    <p:sldId id="257" r:id="rId4"/>
    <p:sldId id="276" r:id="rId5"/>
    <p:sldId id="278" r:id="rId6"/>
    <p:sldId id="258" r:id="rId7"/>
    <p:sldId id="279" r:id="rId8"/>
    <p:sldId id="259" r:id="rId9"/>
    <p:sldId id="277" r:id="rId10"/>
    <p:sldId id="260" r:id="rId11"/>
    <p:sldId id="268" r:id="rId12"/>
    <p:sldId id="274" r:id="rId13"/>
    <p:sldId id="269"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71BDBD2E-87EB-4496-B877-DF3861B7DA12}" type="datetimeFigureOut">
              <a:rPr lang="en-US" smtClean="0"/>
              <a:pPr/>
              <a:t>11/22/2025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79499FE7-3D98-4DEA-9A91-63601233552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71BDBD2E-87EB-4496-B877-DF3861B7DA12}" type="datetimeFigureOut">
              <a:rPr lang="en-US" smtClean="0"/>
              <a:pPr/>
              <a:t>11/22/2025</a:t>
            </a:fld>
            <a:endParaRPr lang="en-US"/>
          </a:p>
        </p:txBody>
      </p:sp>
      <p:sp>
        <p:nvSpPr>
          <p:cNvPr id="9" name="Slide Number Placeholder 8"/>
          <p:cNvSpPr>
            <a:spLocks noGrp="1"/>
          </p:cNvSpPr>
          <p:nvPr>
            <p:ph type="sldNum" sz="quarter" idx="15"/>
          </p:nvPr>
        </p:nvSpPr>
        <p:spPr/>
        <p:txBody>
          <a:bodyPr rtlCol="0"/>
          <a:lstStyle/>
          <a:p>
            <a:fld id="{79499FE7-3D98-4DEA-9A91-636012335522}"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71BDBD2E-87EB-4496-B877-DF3861B7DA12}" type="datetimeFigureOut">
              <a:rPr lang="en-US" smtClean="0"/>
              <a:pPr/>
              <a:t>11/22/2025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79499FE7-3D98-4DEA-9A91-63601233552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71BDBD2E-87EB-4496-B877-DF3861B7DA12}"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499FE7-3D98-4DEA-9A91-636012335522}"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71BDBD2E-87EB-4496-B877-DF3861B7DA12}" type="datetimeFigureOut">
              <a:rPr lang="en-US" smtClean="0"/>
              <a:pPr/>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499FE7-3D98-4DEA-9A91-636012335522}"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71BDBD2E-87EB-4496-B877-DF3861B7DA12}" type="datetimeFigureOut">
              <a:rPr lang="en-US" smtClean="0"/>
              <a:pPr/>
              <a:t>11/22/2025</a:t>
            </a:fld>
            <a:endParaRPr lang="en-US"/>
          </a:p>
        </p:txBody>
      </p:sp>
      <p:sp>
        <p:nvSpPr>
          <p:cNvPr id="7" name="Slide Number Placeholder 6"/>
          <p:cNvSpPr>
            <a:spLocks noGrp="1"/>
          </p:cNvSpPr>
          <p:nvPr>
            <p:ph type="sldNum" sz="quarter" idx="11"/>
          </p:nvPr>
        </p:nvSpPr>
        <p:spPr/>
        <p:txBody>
          <a:bodyPr rtlCol="0"/>
          <a:lstStyle/>
          <a:p>
            <a:fld id="{79499FE7-3D98-4DEA-9A91-636012335522}"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DBD2E-87EB-4496-B877-DF3861B7DA12}" type="datetimeFigureOut">
              <a:rPr lang="en-US" smtClean="0"/>
              <a:pPr/>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499FE7-3D98-4DEA-9A91-63601233552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71BDBD2E-87EB-4496-B877-DF3861B7DA12}" type="datetimeFigureOut">
              <a:rPr lang="en-US" smtClean="0"/>
              <a:pPr/>
              <a:t>11/22/2025</a:t>
            </a:fld>
            <a:endParaRPr lang="en-US"/>
          </a:p>
        </p:txBody>
      </p:sp>
      <p:sp>
        <p:nvSpPr>
          <p:cNvPr id="22" name="Slide Number Placeholder 21"/>
          <p:cNvSpPr>
            <a:spLocks noGrp="1"/>
          </p:cNvSpPr>
          <p:nvPr>
            <p:ph type="sldNum" sz="quarter" idx="15"/>
          </p:nvPr>
        </p:nvSpPr>
        <p:spPr/>
        <p:txBody>
          <a:bodyPr rtlCol="0"/>
          <a:lstStyle/>
          <a:p>
            <a:fld id="{79499FE7-3D98-4DEA-9A91-636012335522}"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71BDBD2E-87EB-4496-B877-DF3861B7DA12}" type="datetimeFigureOut">
              <a:rPr lang="en-US" smtClean="0"/>
              <a:pPr/>
              <a:t>11/22/2025</a:t>
            </a:fld>
            <a:endParaRPr lang="en-US"/>
          </a:p>
        </p:txBody>
      </p:sp>
      <p:sp>
        <p:nvSpPr>
          <p:cNvPr id="18" name="Slide Number Placeholder 17"/>
          <p:cNvSpPr>
            <a:spLocks noGrp="1"/>
          </p:cNvSpPr>
          <p:nvPr>
            <p:ph type="sldNum" sz="quarter" idx="11"/>
          </p:nvPr>
        </p:nvSpPr>
        <p:spPr/>
        <p:txBody>
          <a:bodyPr rtlCol="0"/>
          <a:lstStyle/>
          <a:p>
            <a:fld id="{79499FE7-3D98-4DEA-9A91-636012335522}"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1BDBD2E-87EB-4496-B877-DF3861B7DA12}"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499FE7-3D98-4DEA-9A91-63601233552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1BDBD2E-87EB-4496-B877-DF3861B7DA12}"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499FE7-3D98-4DEA-9A91-63601233552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71BDBD2E-87EB-4496-B877-DF3861B7DA12}" type="datetimeFigureOut">
              <a:rPr lang="en-US" smtClean="0"/>
              <a:pPr/>
              <a:t>11/22/2025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79499FE7-3D98-4DEA-9A91-63601233552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slide" Target="slide8.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owasp.org/" TargetMode="Externa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hyperlink" Target="https://www.nist.gov/cyberframework" TargetMode="External"/><Relationship Id="rId4" Type="http://schemas.openxmlformats.org/officeDocument/2006/relationships/hyperlink" Target="https://github.com/projectdiscovery/subfinder" TargetMode="Externa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4800"/>
            <a:ext cx="7772400" cy="1829761"/>
          </a:xfrm>
        </p:spPr>
        <p:txBody>
          <a:bodyPr>
            <a:normAutofit/>
          </a:bodyPr>
          <a:lstStyle/>
          <a:p>
            <a:pPr algn="ctr"/>
            <a:r>
              <a:rPr lang="en-US" sz="4000" dirty="0">
                <a:solidFill>
                  <a:schemeClr val="tx1"/>
                </a:solidFill>
              </a:rPr>
              <a:t>HUNTBOX</a:t>
            </a:r>
          </a:p>
        </p:txBody>
      </p:sp>
      <p:sp>
        <p:nvSpPr>
          <p:cNvPr id="3" name="Subtitle 2"/>
          <p:cNvSpPr>
            <a:spLocks noGrp="1"/>
          </p:cNvSpPr>
          <p:nvPr>
            <p:ph type="subTitle" idx="1"/>
          </p:nvPr>
        </p:nvSpPr>
        <p:spPr>
          <a:xfrm>
            <a:off x="838200" y="2286000"/>
            <a:ext cx="7772400" cy="1199704"/>
          </a:xfrm>
        </p:spPr>
        <p:txBody>
          <a:bodyPr>
            <a:noAutofit/>
          </a:bodyPr>
          <a:lstStyle/>
          <a:p>
            <a:pPr algn="ctr"/>
            <a:r>
              <a:rPr lang="en-US" sz="2600" dirty="0"/>
              <a:t>Parul Institute of Computer Applications</a:t>
            </a:r>
          </a:p>
          <a:p>
            <a:pPr algn="ctr"/>
            <a:r>
              <a:rPr lang="en-US" sz="2800" dirty="0"/>
              <a:t>Semester 7 Project</a:t>
            </a:r>
          </a:p>
          <a:p>
            <a:pPr algn="ctr"/>
            <a:r>
              <a:rPr lang="en-US" sz="2400" dirty="0"/>
              <a:t>2025-26</a:t>
            </a:r>
          </a:p>
          <a:p>
            <a:pPr algn="ctr"/>
            <a:r>
              <a:rPr lang="en-US" sz="2600" dirty="0"/>
              <a:t>Team members</a:t>
            </a:r>
          </a:p>
          <a:p>
            <a:pPr algn="ctr"/>
            <a:r>
              <a:rPr lang="en-US" sz="2600" dirty="0"/>
              <a:t>Malvik Parekh 2205103140018</a:t>
            </a:r>
          </a:p>
          <a:p>
            <a:pPr algn="ctr"/>
            <a:r>
              <a:rPr lang="en-US" sz="2600" dirty="0"/>
              <a:t>Palak Kojani 2205103140008</a:t>
            </a:r>
          </a:p>
          <a:p>
            <a:pPr algn="ctr"/>
            <a:r>
              <a:rPr lang="en-US" sz="2600" dirty="0"/>
              <a:t>Mohit Agarwalla 2205103140010</a:t>
            </a:r>
            <a:endParaRPr lang="en-US" sz="2000" dirty="0"/>
          </a:p>
          <a:p>
            <a:pPr algn="ctr"/>
            <a:endParaRPr lang="en-US" sz="2000" dirty="0"/>
          </a:p>
          <a:p>
            <a:pPr algn="ctr"/>
            <a:endParaRPr lang="en-US" sz="2000" dirty="0"/>
          </a:p>
          <a:p>
            <a:pPr algn="l"/>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7467600" cy="928670"/>
          </a:xfrm>
        </p:spPr>
        <p:txBody>
          <a:bodyPr/>
          <a:lstStyle/>
          <a:p>
            <a:r>
              <a:rPr lang="en-US" dirty="0"/>
              <a:t>INDEX</a:t>
            </a:r>
            <a:endParaRPr lang="en-IN" dirty="0"/>
          </a:p>
        </p:txBody>
      </p:sp>
      <p:sp>
        <p:nvSpPr>
          <p:cNvPr id="3" name="Content Placeholder 2"/>
          <p:cNvSpPr>
            <a:spLocks noGrp="1"/>
          </p:cNvSpPr>
          <p:nvPr>
            <p:ph sz="quarter" idx="1"/>
          </p:nvPr>
        </p:nvSpPr>
        <p:spPr>
          <a:xfrm>
            <a:off x="285720" y="908720"/>
            <a:ext cx="8429684" cy="5949280"/>
          </a:xfrm>
        </p:spPr>
        <p:txBody>
          <a:bodyPr>
            <a:normAutofit/>
          </a:bodyPr>
          <a:lstStyle/>
          <a:p>
            <a:pPr>
              <a:buFont typeface="Wingdings" pitchFamily="2" charset="2"/>
              <a:buChar char="Ø"/>
            </a:pPr>
            <a:r>
              <a:rPr lang="en-US" dirty="0">
                <a:hlinkClick r:id="rId2" action="ppaction://hlinksldjump"/>
              </a:rPr>
              <a:t>Abstract</a:t>
            </a:r>
            <a:endParaRPr lang="en-US" dirty="0"/>
          </a:p>
          <a:p>
            <a:pPr>
              <a:buFont typeface="Wingdings" pitchFamily="2" charset="2"/>
              <a:buChar char="Ø"/>
            </a:pPr>
            <a:r>
              <a:rPr lang="en-US" dirty="0">
                <a:hlinkClick r:id="rId3" action="ppaction://hlinksldjump"/>
              </a:rPr>
              <a:t>Comparison of New System with Existing System</a:t>
            </a:r>
            <a:endParaRPr lang="en-US" dirty="0"/>
          </a:p>
          <a:p>
            <a:pPr>
              <a:buFont typeface="Wingdings" pitchFamily="2" charset="2"/>
              <a:buChar char="Ø"/>
            </a:pPr>
            <a:r>
              <a:rPr lang="en-US" dirty="0">
                <a:hlinkClick r:id="" action="ppaction://noaction"/>
              </a:rPr>
              <a:t>Technology and HW, SW Requirement Specification</a:t>
            </a:r>
            <a:endParaRPr lang="en-US" dirty="0"/>
          </a:p>
          <a:p>
            <a:pPr>
              <a:buFont typeface="Wingdings" pitchFamily="2" charset="2"/>
              <a:buChar char="Ø"/>
            </a:pPr>
            <a:r>
              <a:rPr lang="en-US" dirty="0">
                <a:hlinkClick r:id="rId4" action="ppaction://hlinksldjump"/>
              </a:rPr>
              <a:t>Modules and its short description</a:t>
            </a:r>
            <a:endParaRPr lang="en-US" dirty="0"/>
          </a:p>
          <a:p>
            <a:pPr>
              <a:buFont typeface="Wingdings" pitchFamily="2" charset="2"/>
              <a:buChar char="Ø"/>
            </a:pPr>
            <a:r>
              <a:rPr lang="en-US" dirty="0">
                <a:hlinkClick r:id="rId5" action="ppaction://hlinksldjump"/>
              </a:rPr>
              <a:t>Users and their role description</a:t>
            </a:r>
            <a:endParaRPr lang="en-US" dirty="0"/>
          </a:p>
          <a:p>
            <a:pPr>
              <a:buFont typeface="Wingdings" pitchFamily="2" charset="2"/>
              <a:buChar char="Ø"/>
            </a:pPr>
            <a:r>
              <a:rPr lang="en-US" dirty="0">
                <a:hlinkClick r:id="rId6" action="ppaction://hlinksldjump"/>
              </a:rPr>
              <a:t>Limitations</a:t>
            </a:r>
            <a:endParaRPr lang="en-US" dirty="0"/>
          </a:p>
          <a:p>
            <a:pPr>
              <a:buFont typeface="Wingdings" pitchFamily="2" charset="2"/>
              <a:buChar char="Ø"/>
            </a:pPr>
            <a:r>
              <a:rPr lang="en-US" dirty="0">
                <a:hlinkClick r:id="rId7" action="ppaction://hlinksldjump"/>
              </a:rPr>
              <a:t>References &amp; Bibliography</a:t>
            </a:r>
            <a:endParaRPr lang="en-US" dirty="0"/>
          </a:p>
          <a:p>
            <a:pPr>
              <a:buFont typeface="Wingdings" pitchFamily="2" charset="2"/>
              <a:buChar char="Ø"/>
            </a:pPr>
            <a:endParaRPr lang="en-US" dirty="0"/>
          </a:p>
          <a:p>
            <a:pPr>
              <a:buFont typeface="Wingdings" pitchFamily="2" charset="2"/>
              <a:buChar char="Ø"/>
            </a:pPr>
            <a:endParaRPr lang="en-US" dirty="0"/>
          </a:p>
          <a:p>
            <a:pPr>
              <a:buFont typeface="Wingdings" pitchFamily="2" charset="2"/>
              <a:buChar char="Ø"/>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a:t>
            </a:r>
          </a:p>
        </p:txBody>
      </p:sp>
      <p:sp>
        <p:nvSpPr>
          <p:cNvPr id="3" name="Content Placeholder 2"/>
          <p:cNvSpPr>
            <a:spLocks noGrp="1"/>
          </p:cNvSpPr>
          <p:nvPr>
            <p:ph sz="quarter" idx="1"/>
          </p:nvPr>
        </p:nvSpPr>
        <p:spPr/>
        <p:txBody>
          <a:bodyPr>
            <a:normAutofit/>
          </a:bodyPr>
          <a:lstStyle/>
          <a:p>
            <a:r>
              <a:rPr lang="en-US" sz="1600" dirty="0"/>
              <a:t>Cybersecurity is essential for safeguarding networks, applications, and sensitive data against evolving threats. This study explores </a:t>
            </a:r>
            <a:r>
              <a:rPr lang="en-US" sz="1600" b="1" dirty="0"/>
              <a:t>Nmap</a:t>
            </a:r>
            <a:r>
              <a:rPr lang="en-US" sz="1600" dirty="0"/>
              <a:t>, </a:t>
            </a:r>
            <a:r>
              <a:rPr lang="en-US" sz="1600" b="1" dirty="0"/>
              <a:t>JavaScript Scanner</a:t>
            </a:r>
            <a:r>
              <a:rPr lang="en-US" sz="1600" dirty="0"/>
              <a:t>, </a:t>
            </a:r>
            <a:r>
              <a:rPr lang="en-US" sz="1600" b="1" dirty="0"/>
              <a:t>Subfinder</a:t>
            </a:r>
            <a:r>
              <a:rPr lang="en-US" sz="1600" dirty="0"/>
              <a:t>, and </a:t>
            </a:r>
            <a:r>
              <a:rPr lang="en-US" sz="1600" b="1" dirty="0"/>
              <a:t>Vulnerability Assessment</a:t>
            </a:r>
            <a:r>
              <a:rPr lang="en-US" sz="1600" dirty="0"/>
              <a:t> as key tools in identifying and mitigating security risks. </a:t>
            </a:r>
            <a:r>
              <a:rPr lang="en-US" sz="1600" b="1" dirty="0"/>
              <a:t>Nmap</a:t>
            </a:r>
            <a:r>
              <a:rPr lang="en-US" sz="1600" dirty="0"/>
              <a:t> is widely used for network discovery, port scanning, and OS detection, helping security professionals map potential attack surfaces.</a:t>
            </a:r>
          </a:p>
          <a:p>
            <a:r>
              <a:rPr lang="en-US" sz="1600" dirty="0"/>
              <a:t> </a:t>
            </a:r>
            <a:r>
              <a:rPr lang="en-US" sz="1600" b="1" dirty="0"/>
              <a:t>JavaScript Scanner</a:t>
            </a:r>
            <a:r>
              <a:rPr lang="en-US" sz="1600" dirty="0"/>
              <a:t> aids in analyzing web applications to detect vulnerabilities such as cross-site scripting (XSS) and insecure scripts. </a:t>
            </a:r>
          </a:p>
          <a:p>
            <a:r>
              <a:rPr lang="en-US" sz="1600" b="1" dirty="0"/>
              <a:t>Subfinder</a:t>
            </a:r>
            <a:r>
              <a:rPr lang="en-US" sz="1600" dirty="0"/>
              <a:t> and </a:t>
            </a:r>
            <a:r>
              <a:rPr lang="en-US" sz="1600" b="1" dirty="0"/>
              <a:t>Subfinder Brute Force</a:t>
            </a:r>
            <a:r>
              <a:rPr lang="en-US" sz="1600" dirty="0"/>
              <a:t> assist in subdomain enumeration, uncovering hidden entry points for security assessments.</a:t>
            </a:r>
          </a:p>
          <a:p>
            <a:r>
              <a:rPr lang="en-US" sz="1600" dirty="0"/>
              <a:t> </a:t>
            </a:r>
            <a:r>
              <a:rPr lang="en-US" sz="1600" b="1" dirty="0"/>
              <a:t>Vulnerability Assessment</a:t>
            </a:r>
            <a:r>
              <a:rPr lang="en-US" sz="1600" dirty="0"/>
              <a:t> plays a crucial role in proactive defense by identifying weaknesses before exploitation. By integrating these tools into penetration testing and security auditing, organizations can enhance threat detection, mitigate risks, and ensure compliance with security standards. This research aims to provide a structured approach to improving cybersecurity strategies and strengthening overall security posture.</a:t>
            </a:r>
          </a:p>
        </p:txBody>
      </p:sp>
      <p:sp>
        <p:nvSpPr>
          <p:cNvPr id="4" name="Action Button: Home 3">
            <a:hlinkClick r:id="rId2" action="ppaction://hlinksldjump" highlightClick="1"/>
          </p:cNvPr>
          <p:cNvSpPr/>
          <p:nvPr/>
        </p:nvSpPr>
        <p:spPr>
          <a:xfrm>
            <a:off x="8104382" y="5733256"/>
            <a:ext cx="644082" cy="648072"/>
          </a:xfrm>
          <a:prstGeom prst="actionButtonHome">
            <a:avLst/>
          </a:prstGeom>
          <a:solidFill>
            <a:schemeClr val="accent1"/>
          </a:solidFill>
          <a:ln>
            <a:gradFill>
              <a:gsLst>
                <a:gs pos="0">
                  <a:schemeClr val="tx1"/>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Comparison of new system with existing system</a:t>
            </a:r>
          </a:p>
        </p:txBody>
      </p:sp>
      <p:sp>
        <p:nvSpPr>
          <p:cNvPr id="4" name="Action Button: Home 3">
            <a:hlinkClick r:id="rId2" action="ppaction://hlinksldjump" highlightClick="1"/>
          </p:cNvPr>
          <p:cNvSpPr/>
          <p:nvPr/>
        </p:nvSpPr>
        <p:spPr>
          <a:xfrm>
            <a:off x="8104382" y="5733256"/>
            <a:ext cx="644082" cy="648072"/>
          </a:xfrm>
          <a:prstGeom prst="actionButtonHome">
            <a:avLst/>
          </a:prstGeom>
          <a:solidFill>
            <a:schemeClr val="accent1"/>
          </a:solidFill>
          <a:ln>
            <a:gradFill>
              <a:gsLst>
                <a:gs pos="0">
                  <a:schemeClr val="tx1"/>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a:extLst>
              <a:ext uri="{FF2B5EF4-FFF2-40B4-BE49-F238E27FC236}">
                <a16:creationId xmlns:a16="http://schemas.microsoft.com/office/drawing/2014/main" id="{76AB3F84-85CB-F21F-E03A-CB7386A4A745}"/>
              </a:ext>
            </a:extLst>
          </p:cNvPr>
          <p:cNvSpPr>
            <a:spLocks noGrp="1" noChangeArrowheads="1"/>
          </p:cNvSpPr>
          <p:nvPr>
            <p:ph sz="quarter" idx="1"/>
          </p:nvPr>
        </p:nvSpPr>
        <p:spPr bwMode="auto">
          <a:xfrm>
            <a:off x="457200" y="1467139"/>
            <a:ext cx="9202840"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600" b="1" dirty="0"/>
              <a:t>1. Network Scanning</a:t>
            </a:r>
          </a:p>
          <a:p>
            <a:pPr>
              <a:buFont typeface="Arial" panose="020B0604020202020204" pitchFamily="34" charset="0"/>
              <a:buChar char="•"/>
            </a:pPr>
            <a:r>
              <a:rPr lang="en-US" sz="1600" b="1" dirty="0"/>
              <a:t>Existing System:</a:t>
            </a:r>
            <a:r>
              <a:rPr lang="en-US" sz="1600" dirty="0"/>
              <a:t> Manual IP and port scanning, time-consuming.</a:t>
            </a:r>
          </a:p>
          <a:p>
            <a:pPr>
              <a:buFont typeface="Arial" panose="020B0604020202020204" pitchFamily="34" charset="0"/>
              <a:buChar char="•"/>
            </a:pPr>
            <a:r>
              <a:rPr lang="en-US" sz="1600" b="1" dirty="0"/>
              <a:t>New System:</a:t>
            </a:r>
            <a:r>
              <a:rPr lang="en-US" sz="1600" dirty="0"/>
              <a:t> Automated scanning with </a:t>
            </a:r>
            <a:r>
              <a:rPr lang="en-US" sz="1600" b="1" dirty="0"/>
              <a:t>Nmap</a:t>
            </a:r>
            <a:r>
              <a:rPr lang="en-US" sz="1600" dirty="0"/>
              <a:t>, faster and more efficient.</a:t>
            </a:r>
          </a:p>
          <a:p>
            <a:r>
              <a:rPr lang="en-US" sz="1600" b="1" dirty="0"/>
              <a:t>2. Web Security Analysis</a:t>
            </a:r>
          </a:p>
          <a:p>
            <a:pPr>
              <a:buFont typeface="Arial" panose="020B0604020202020204" pitchFamily="34" charset="0"/>
              <a:buChar char="•"/>
            </a:pPr>
            <a:r>
              <a:rPr lang="en-US" sz="1600" b="1" dirty="0"/>
              <a:t>Existing System:</a:t>
            </a:r>
            <a:r>
              <a:rPr lang="en-US" sz="1600" dirty="0"/>
              <a:t> Basic manual testing for vulnerabilities.</a:t>
            </a:r>
          </a:p>
          <a:p>
            <a:pPr>
              <a:buFont typeface="Arial" panose="020B0604020202020204" pitchFamily="34" charset="0"/>
              <a:buChar char="•"/>
            </a:pPr>
            <a:r>
              <a:rPr lang="en-US" sz="1600" b="1" dirty="0"/>
              <a:t>New System:</a:t>
            </a:r>
            <a:r>
              <a:rPr lang="en-US" sz="1600" dirty="0"/>
              <a:t> </a:t>
            </a:r>
            <a:r>
              <a:rPr lang="en-US" sz="1600" b="1" dirty="0"/>
              <a:t>JavaScript Scanner</a:t>
            </a:r>
            <a:r>
              <a:rPr lang="en-US" sz="1600" dirty="0"/>
              <a:t> detects XSS, obfuscation, and insecure scripts.</a:t>
            </a:r>
          </a:p>
          <a:p>
            <a:r>
              <a:rPr lang="en-US" sz="1600" b="1" dirty="0"/>
              <a:t>3. Subdomain Enumeration</a:t>
            </a:r>
          </a:p>
          <a:p>
            <a:pPr>
              <a:buFont typeface="Arial" panose="020B0604020202020204" pitchFamily="34" charset="0"/>
              <a:buChar char="•"/>
            </a:pPr>
            <a:r>
              <a:rPr lang="en-US" sz="1600" b="1" dirty="0"/>
              <a:t>Existing System:</a:t>
            </a:r>
            <a:r>
              <a:rPr lang="en-US" sz="1600" dirty="0"/>
              <a:t> Limited scope, manual enumeration.</a:t>
            </a:r>
          </a:p>
          <a:p>
            <a:pPr>
              <a:buFont typeface="Arial" panose="020B0604020202020204" pitchFamily="34" charset="0"/>
              <a:buChar char="•"/>
            </a:pPr>
            <a:r>
              <a:rPr lang="en-US" sz="1600" b="1" dirty="0"/>
              <a:t>New System:</a:t>
            </a:r>
            <a:r>
              <a:rPr lang="en-US" sz="1600" dirty="0"/>
              <a:t> </a:t>
            </a:r>
            <a:r>
              <a:rPr lang="en-US" sz="1600" b="1" dirty="0"/>
              <a:t>Subfinder</a:t>
            </a:r>
            <a:r>
              <a:rPr lang="en-US" sz="1600" dirty="0"/>
              <a:t> automates subdomain discovery, increasing accuracy.</a:t>
            </a:r>
          </a:p>
          <a:p>
            <a:r>
              <a:rPr lang="en-US" sz="1600" b="1" dirty="0"/>
              <a:t>4. Brute Force Detection</a:t>
            </a:r>
          </a:p>
          <a:p>
            <a:pPr>
              <a:buFont typeface="Arial" panose="020B0604020202020204" pitchFamily="34" charset="0"/>
              <a:buChar char="•"/>
            </a:pPr>
            <a:r>
              <a:rPr lang="en-US" sz="1600" b="1" dirty="0"/>
              <a:t>Existing System:</a:t>
            </a:r>
            <a:r>
              <a:rPr lang="en-US" sz="1600" dirty="0"/>
              <a:t> Requires manual input and testing.</a:t>
            </a:r>
          </a:p>
          <a:p>
            <a:pPr>
              <a:buFont typeface="Arial" panose="020B0604020202020204" pitchFamily="34" charset="0"/>
              <a:buChar char="•"/>
            </a:pPr>
            <a:r>
              <a:rPr lang="en-US" sz="1600" b="1" dirty="0"/>
              <a:t>New System:</a:t>
            </a:r>
            <a:r>
              <a:rPr lang="en-US" sz="1600" dirty="0"/>
              <a:t> </a:t>
            </a:r>
            <a:r>
              <a:rPr lang="en-US" sz="1600" b="1" dirty="0"/>
              <a:t>Subfinder Brute Force</a:t>
            </a:r>
            <a:r>
              <a:rPr lang="en-US" sz="1600" dirty="0"/>
              <a:t> enhances enumeration with automated techniques.</a:t>
            </a:r>
          </a:p>
          <a:p>
            <a:r>
              <a:rPr lang="en-US" sz="1600" b="1" dirty="0"/>
              <a:t>5. Vulnerability Assessment</a:t>
            </a:r>
          </a:p>
          <a:p>
            <a:pPr>
              <a:buFont typeface="Arial" panose="020B0604020202020204" pitchFamily="34" charset="0"/>
              <a:buChar char="•"/>
            </a:pPr>
            <a:r>
              <a:rPr lang="en-US" sz="1600" b="1" dirty="0"/>
              <a:t>Existing System:</a:t>
            </a:r>
            <a:r>
              <a:rPr lang="en-US" sz="1600" dirty="0"/>
              <a:t> Inconsistent testing, requires expertise.</a:t>
            </a:r>
          </a:p>
          <a:p>
            <a:pPr>
              <a:buFont typeface="Arial" panose="020B0604020202020204" pitchFamily="34" charset="0"/>
              <a:buChar char="•"/>
            </a:pPr>
            <a:r>
              <a:rPr lang="en-US" sz="1600" b="1" dirty="0"/>
              <a:t>New System:</a:t>
            </a:r>
            <a:r>
              <a:rPr lang="en-US" sz="1600" dirty="0"/>
              <a:t> Automated </a:t>
            </a:r>
            <a:r>
              <a:rPr lang="en-US" sz="1600" b="1" dirty="0"/>
              <a:t>vulnerability scanning</a:t>
            </a:r>
            <a:r>
              <a:rPr lang="en-US" sz="1600" dirty="0"/>
              <a:t> with risk-level assessment.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2748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6386A-74D9-09FF-D550-3FABE0E8814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B57CDF2-2B50-739C-AEC3-56664DA1A185}"/>
              </a:ext>
            </a:extLst>
          </p:cNvPr>
          <p:cNvSpPr>
            <a:spLocks noGrp="1"/>
          </p:cNvSpPr>
          <p:nvPr>
            <p:ph sz="quarter" idx="1"/>
          </p:nvPr>
        </p:nvSpPr>
        <p:spPr>
          <a:xfrm>
            <a:off x="457200" y="274638"/>
            <a:ext cx="7467600" cy="6199314"/>
          </a:xfrm>
        </p:spPr>
        <p:txBody>
          <a:bodyPr>
            <a:normAutofit/>
          </a:bodyPr>
          <a:lstStyle/>
          <a:p>
            <a:r>
              <a:rPr lang="en-US" sz="1600" b="1" dirty="0"/>
              <a:t>6. Threat Mitigation</a:t>
            </a:r>
          </a:p>
          <a:p>
            <a:pPr>
              <a:buFont typeface="Arial" panose="020B0604020202020204" pitchFamily="34" charset="0"/>
              <a:buChar char="•"/>
            </a:pPr>
            <a:r>
              <a:rPr lang="en-US" sz="1600" b="1" dirty="0"/>
              <a:t>Existing System:</a:t>
            </a:r>
            <a:r>
              <a:rPr lang="en-US" sz="1600" dirty="0"/>
              <a:t> Reactive approach, fixes after incidents occur.</a:t>
            </a:r>
          </a:p>
          <a:p>
            <a:pPr>
              <a:buFont typeface="Arial" panose="020B0604020202020204" pitchFamily="34" charset="0"/>
              <a:buChar char="•"/>
            </a:pPr>
            <a:r>
              <a:rPr lang="en-US" sz="1600" b="1" dirty="0"/>
              <a:t>New System:</a:t>
            </a:r>
            <a:r>
              <a:rPr lang="en-US" sz="1600" dirty="0"/>
              <a:t> Proactive </a:t>
            </a:r>
            <a:r>
              <a:rPr lang="en-US" sz="1600" b="1" dirty="0"/>
              <a:t>threat detection and mitigation</a:t>
            </a:r>
            <a:r>
              <a:rPr lang="en-US" sz="1600" dirty="0"/>
              <a:t> strategies.</a:t>
            </a:r>
          </a:p>
          <a:p>
            <a:r>
              <a:rPr lang="en-US" sz="1600" b="1" dirty="0"/>
              <a:t>7. Penetration Testing</a:t>
            </a:r>
          </a:p>
          <a:p>
            <a:pPr>
              <a:buFont typeface="Arial" panose="020B0604020202020204" pitchFamily="34" charset="0"/>
              <a:buChar char="•"/>
            </a:pPr>
            <a:r>
              <a:rPr lang="en-US" sz="1600" b="1" dirty="0"/>
              <a:t>Existing System:</a:t>
            </a:r>
            <a:r>
              <a:rPr lang="en-US" sz="1600" dirty="0"/>
              <a:t> Manual testing, slow and error-prone.</a:t>
            </a:r>
          </a:p>
          <a:p>
            <a:pPr>
              <a:buFont typeface="Arial" panose="020B0604020202020204" pitchFamily="34" charset="0"/>
              <a:buChar char="•"/>
            </a:pPr>
            <a:r>
              <a:rPr lang="en-US" sz="1600" b="1" dirty="0"/>
              <a:t>New System:</a:t>
            </a:r>
            <a:r>
              <a:rPr lang="en-US" sz="1600" dirty="0"/>
              <a:t> </a:t>
            </a:r>
            <a:r>
              <a:rPr lang="en-US" sz="1600" b="1" dirty="0"/>
              <a:t>Automated penetration testing</a:t>
            </a:r>
            <a:r>
              <a:rPr lang="en-US" sz="1600" dirty="0"/>
              <a:t> with structured reporting.</a:t>
            </a:r>
          </a:p>
          <a:p>
            <a:r>
              <a:rPr lang="en-US" sz="1600" b="1" dirty="0"/>
              <a:t>8. Bug Bounty &amp; Security Audits</a:t>
            </a:r>
          </a:p>
          <a:p>
            <a:pPr>
              <a:buFont typeface="Arial" panose="020B0604020202020204" pitchFamily="34" charset="0"/>
              <a:buChar char="•"/>
            </a:pPr>
            <a:r>
              <a:rPr lang="en-US" sz="1600" b="1" dirty="0"/>
              <a:t>Existing System:</a:t>
            </a:r>
            <a:r>
              <a:rPr lang="en-US" sz="1600" dirty="0"/>
              <a:t> Requires external security experts.</a:t>
            </a:r>
          </a:p>
          <a:p>
            <a:pPr>
              <a:buFont typeface="Arial" panose="020B0604020202020204" pitchFamily="34" charset="0"/>
              <a:buChar char="•"/>
            </a:pPr>
            <a:r>
              <a:rPr lang="en-US" sz="1600" b="1" dirty="0"/>
              <a:t>New System:</a:t>
            </a:r>
            <a:r>
              <a:rPr lang="en-US" sz="1600" dirty="0"/>
              <a:t> Integrated tools assist in bug hunting and </a:t>
            </a:r>
            <a:r>
              <a:rPr lang="en-US" sz="1600" b="1" dirty="0"/>
              <a:t>security compliance audits</a:t>
            </a:r>
            <a:r>
              <a:rPr lang="en-US" sz="1600" dirty="0"/>
              <a:t>.</a:t>
            </a:r>
          </a:p>
          <a:p>
            <a:r>
              <a:rPr lang="en-US" sz="1600" b="1" dirty="0"/>
              <a:t>9. Compliance Testing</a:t>
            </a:r>
          </a:p>
          <a:p>
            <a:pPr>
              <a:buFont typeface="Arial" panose="020B0604020202020204" pitchFamily="34" charset="0"/>
              <a:buChar char="•"/>
            </a:pPr>
            <a:r>
              <a:rPr lang="en-US" sz="1600" b="1" dirty="0"/>
              <a:t>Existing System:</a:t>
            </a:r>
            <a:r>
              <a:rPr lang="en-US" sz="1600" dirty="0"/>
              <a:t> Manual verification of compliance.</a:t>
            </a:r>
          </a:p>
          <a:p>
            <a:pPr>
              <a:buFont typeface="Arial" panose="020B0604020202020204" pitchFamily="34" charset="0"/>
              <a:buChar char="•"/>
            </a:pPr>
            <a:r>
              <a:rPr lang="en-US" sz="1600" b="1" dirty="0"/>
              <a:t>New System:</a:t>
            </a:r>
            <a:r>
              <a:rPr lang="en-US" sz="1600" dirty="0"/>
              <a:t> Automated compliance checks ensuring industry standards.</a:t>
            </a:r>
          </a:p>
          <a:p>
            <a:r>
              <a:rPr lang="en-US" sz="1600" b="1" dirty="0"/>
              <a:t>10. Performance &amp; Efficiency</a:t>
            </a:r>
          </a:p>
          <a:p>
            <a:pPr>
              <a:buFont typeface="Arial" panose="020B0604020202020204" pitchFamily="34" charset="0"/>
              <a:buChar char="•"/>
            </a:pPr>
            <a:r>
              <a:rPr lang="en-US" sz="1600" b="1" dirty="0"/>
              <a:t>Existing System:</a:t>
            </a:r>
            <a:r>
              <a:rPr lang="en-US" sz="1600" dirty="0"/>
              <a:t> Time-consuming, prone to human errors.</a:t>
            </a:r>
          </a:p>
          <a:p>
            <a:pPr>
              <a:buFont typeface="Arial" panose="020B0604020202020204" pitchFamily="34" charset="0"/>
              <a:buChar char="•"/>
            </a:pPr>
            <a:r>
              <a:rPr lang="en-US" sz="1600" b="1" dirty="0"/>
              <a:t>New System:</a:t>
            </a:r>
            <a:r>
              <a:rPr lang="en-US" sz="1600" dirty="0"/>
              <a:t> Faster, more accurate, and </a:t>
            </a:r>
            <a:r>
              <a:rPr lang="en-US" sz="1600" b="1" dirty="0"/>
              <a:t>automated</a:t>
            </a:r>
            <a:r>
              <a:rPr lang="en-US" sz="1600" dirty="0"/>
              <a:t> security assessments</a:t>
            </a:r>
          </a:p>
        </p:txBody>
      </p:sp>
    </p:spTree>
    <p:extLst>
      <p:ext uri="{BB962C8B-B14F-4D97-AF65-F5344CB8AC3E}">
        <p14:creationId xmlns:p14="http://schemas.microsoft.com/office/powerpoint/2010/main" val="3283044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534400" cy="758952"/>
          </a:xfrm>
        </p:spPr>
        <p:txBody>
          <a:bodyPr>
            <a:normAutofit fontScale="90000"/>
          </a:bodyPr>
          <a:lstStyle/>
          <a:p>
            <a:r>
              <a:rPr lang="en-US" dirty="0"/>
              <a:t>Technology and HW, SW Requirement Specification</a:t>
            </a:r>
          </a:p>
        </p:txBody>
      </p:sp>
      <p:sp>
        <p:nvSpPr>
          <p:cNvPr id="4" name="Action Button: Home 3">
            <a:hlinkClick r:id="rId2" action="ppaction://hlinksldjump" highlightClick="1"/>
          </p:cNvPr>
          <p:cNvSpPr/>
          <p:nvPr/>
        </p:nvSpPr>
        <p:spPr>
          <a:xfrm>
            <a:off x="8104382" y="5733256"/>
            <a:ext cx="644082" cy="648072"/>
          </a:xfrm>
          <a:prstGeom prst="actionButtonHome">
            <a:avLst/>
          </a:prstGeom>
          <a:solidFill>
            <a:schemeClr val="accent1"/>
          </a:solidFill>
          <a:ln>
            <a:gradFill>
              <a:gsLst>
                <a:gs pos="0">
                  <a:schemeClr val="tx1"/>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1">
            <a:extLst>
              <a:ext uri="{FF2B5EF4-FFF2-40B4-BE49-F238E27FC236}">
                <a16:creationId xmlns:a16="http://schemas.microsoft.com/office/drawing/2014/main" id="{59D93502-21DB-A89E-2D7E-3F2126516DAE}"/>
              </a:ext>
            </a:extLst>
          </p:cNvPr>
          <p:cNvSpPr>
            <a:spLocks noGrp="1" noChangeArrowheads="1"/>
          </p:cNvSpPr>
          <p:nvPr>
            <p:ph sz="quarter" idx="1"/>
          </p:nvPr>
        </p:nvSpPr>
        <p:spPr bwMode="auto">
          <a:xfrm>
            <a:off x="683568" y="1518378"/>
            <a:ext cx="6546985" cy="5130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j-lt"/>
              </a:rPr>
              <a:t>Technology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Programming Language</a:t>
            </a:r>
            <a:r>
              <a:rPr kumimoji="0" lang="en-US" altLang="en-US" sz="1600" b="0" i="0" u="none" strike="noStrike" cap="none" normalizeH="0" baseline="0" dirty="0">
                <a:ln>
                  <a:noFill/>
                </a:ln>
                <a:solidFill>
                  <a:schemeClr val="tx1"/>
                </a:solidFill>
                <a:effectLst/>
                <a:latin typeface="+mj-lt"/>
              </a:rPr>
              <a:t>: Python 3.8+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Key Libraries</a:t>
            </a:r>
            <a:r>
              <a:rPr kumimoji="0" lang="en-US" altLang="en-US" sz="1600" b="0" i="0" u="none" strike="noStrike" cap="none" normalizeH="0" baseline="0" dirty="0">
                <a:ln>
                  <a:noFill/>
                </a:ln>
                <a:solidFill>
                  <a:schemeClr val="tx1"/>
                </a:solidFill>
                <a:effectLst/>
                <a:latin typeface="+mj-lt"/>
              </a:rPr>
              <a:t>: </a:t>
            </a:r>
            <a:r>
              <a:rPr kumimoji="0" lang="en-US" altLang="en-US" sz="1600" b="0" i="0" u="none" strike="noStrike" cap="none" normalizeH="0" baseline="0" dirty="0" err="1">
                <a:ln>
                  <a:noFill/>
                </a:ln>
                <a:solidFill>
                  <a:schemeClr val="tx1"/>
                </a:solidFill>
                <a:effectLst/>
                <a:latin typeface="+mj-lt"/>
              </a:rPr>
              <a:t>Scapy</a:t>
            </a:r>
            <a:r>
              <a:rPr kumimoji="0" lang="en-US" altLang="en-US" sz="1600" b="0" i="0" u="none" strike="noStrike" cap="none" normalizeH="0" baseline="0" dirty="0">
                <a:ln>
                  <a:noFill/>
                </a:ln>
                <a:solidFill>
                  <a:schemeClr val="tx1"/>
                </a:solidFill>
                <a:effectLst/>
                <a:latin typeface="+mj-lt"/>
              </a:rPr>
              <a:t>, </a:t>
            </a:r>
            <a:r>
              <a:rPr kumimoji="0" lang="en-US" altLang="en-US" sz="1600" b="0" i="0" u="none" strike="noStrike" cap="none" normalizeH="0" baseline="0" dirty="0" err="1">
                <a:ln>
                  <a:noFill/>
                </a:ln>
                <a:solidFill>
                  <a:schemeClr val="tx1"/>
                </a:solidFill>
                <a:effectLst/>
                <a:latin typeface="+mj-lt"/>
              </a:rPr>
              <a:t>nmap</a:t>
            </a:r>
            <a:r>
              <a:rPr kumimoji="0" lang="en-US" altLang="en-US" sz="1600" b="0" i="0" u="none" strike="noStrike" cap="none" normalizeH="0" baseline="0" dirty="0">
                <a:ln>
                  <a:noFill/>
                </a:ln>
                <a:solidFill>
                  <a:schemeClr val="tx1"/>
                </a:solidFill>
                <a:effectLst/>
                <a:latin typeface="+mj-lt"/>
              </a:rPr>
              <a:t>, socket, csv, </a:t>
            </a:r>
            <a:r>
              <a:rPr kumimoji="0" lang="en-US" altLang="en-US" sz="1600" b="0" i="0" u="none" strike="noStrike" cap="none" normalizeH="0" baseline="0" dirty="0" err="1">
                <a:ln>
                  <a:noFill/>
                </a:ln>
                <a:solidFill>
                  <a:schemeClr val="tx1"/>
                </a:solidFill>
                <a:effectLst/>
                <a:latin typeface="+mj-lt"/>
              </a:rPr>
              <a:t>json</a:t>
            </a:r>
            <a:r>
              <a:rPr kumimoji="0" lang="en-US" altLang="en-US" sz="16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Optional Libraries</a:t>
            </a:r>
            <a:r>
              <a:rPr kumimoji="0" lang="en-US" altLang="en-US" sz="1600" b="0" i="0" u="none" strike="noStrike" cap="none" normalizeH="0" baseline="0" dirty="0">
                <a:ln>
                  <a:noFill/>
                </a:ln>
                <a:solidFill>
                  <a:schemeClr val="tx1"/>
                </a:solidFill>
                <a:effectLst/>
                <a:latin typeface="+mj-lt"/>
              </a:rPr>
              <a:t>: Tkinter/</a:t>
            </a:r>
            <a:r>
              <a:rPr kumimoji="0" lang="en-US" altLang="en-US" sz="1600" b="0" i="0" u="none" strike="noStrike" cap="none" normalizeH="0" baseline="0" dirty="0" err="1">
                <a:ln>
                  <a:noFill/>
                </a:ln>
                <a:solidFill>
                  <a:schemeClr val="tx1"/>
                </a:solidFill>
                <a:effectLst/>
                <a:latin typeface="+mj-lt"/>
              </a:rPr>
              <a:t>PyQt</a:t>
            </a:r>
            <a:r>
              <a:rPr kumimoji="0" lang="en-US" altLang="en-US" sz="1600" b="0" i="0" u="none" strike="noStrike" cap="none" normalizeH="0" baseline="0" dirty="0">
                <a:ln>
                  <a:noFill/>
                </a:ln>
                <a:solidFill>
                  <a:schemeClr val="tx1"/>
                </a:solidFill>
                <a:effectLst/>
                <a:latin typeface="+mj-lt"/>
              </a:rPr>
              <a:t> (for GUI)</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j-lt"/>
              </a:rPr>
              <a:t>   </a:t>
            </a:r>
            <a:r>
              <a:rPr kumimoji="0" lang="en-US" altLang="en-US" sz="1600" b="0" i="0" u="none" strike="noStrike" cap="none" normalizeH="0" baseline="0" dirty="0" err="1">
                <a:ln>
                  <a:noFill/>
                </a:ln>
                <a:solidFill>
                  <a:schemeClr val="tx1"/>
                </a:solidFill>
                <a:effectLst/>
                <a:latin typeface="+mj-lt"/>
              </a:rPr>
              <a:t>pyshark</a:t>
            </a:r>
            <a:r>
              <a:rPr kumimoji="0" lang="en-US" altLang="en-US" sz="1600" b="0" i="0" u="none" strike="noStrike" cap="none" normalizeH="0" baseline="0" dirty="0">
                <a:ln>
                  <a:noFill/>
                </a:ln>
                <a:solidFill>
                  <a:schemeClr val="tx1"/>
                </a:solidFill>
                <a:effectLst/>
                <a:latin typeface="+mj-lt"/>
              </a:rPr>
              <a:t> (for traffic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External Tools</a:t>
            </a:r>
            <a:r>
              <a:rPr kumimoji="0" lang="en-US" altLang="en-US" sz="1600" b="0" i="0" u="none" strike="noStrike" cap="none" normalizeH="0" baseline="0" dirty="0">
                <a:ln>
                  <a:noFill/>
                </a:ln>
                <a:solidFill>
                  <a:schemeClr val="tx1"/>
                </a:solidFill>
                <a:effectLst/>
                <a:latin typeface="+mj-lt"/>
              </a:rPr>
              <a:t>: Nmap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latin typeface="+mj-lt"/>
            </a:endParaRPr>
          </a:p>
          <a:p>
            <a:pPr marL="0" marR="0" algn="just">
              <a:lnSpc>
                <a:spcPct val="115000"/>
              </a:lnSpc>
              <a:spcAft>
                <a:spcPts val="1000"/>
              </a:spcAft>
            </a:pPr>
            <a:r>
              <a:rPr lang="en-US" sz="1600" b="1" dirty="0">
                <a:effectLst/>
                <a:ea typeface="Calibri" panose="020F0502020204030204" pitchFamily="34" charset="0"/>
                <a:cs typeface="Mangal" panose="02040503050203030202" pitchFamily="18" charset="0"/>
              </a:rPr>
              <a:t>Hardware Requirements</a:t>
            </a:r>
            <a:endParaRPr lang="en-US" sz="1600" dirty="0">
              <a:effectLst/>
              <a:ea typeface="Calibri" panose="020F0502020204030204" pitchFamily="34" charset="0"/>
              <a:cs typeface="Mangal" panose="02040503050203030202" pitchFamily="18" charset="0"/>
            </a:endParaRP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1600" dirty="0">
                <a:effectLst/>
                <a:ea typeface="Calibri" panose="020F0502020204030204" pitchFamily="34" charset="0"/>
                <a:cs typeface="Mangal" panose="02040503050203030202" pitchFamily="18" charset="0"/>
              </a:rPr>
              <a:t>CPU: Intel i3 / AMD Ryzen 3 (Minimum) |</a:t>
            </a:r>
          </a:p>
          <a:p>
            <a:pPr marL="0" marR="0" lvl="0" indent="0" algn="just">
              <a:lnSpc>
                <a:spcPct val="115000"/>
              </a:lnSpc>
              <a:spcAft>
                <a:spcPts val="1000"/>
              </a:spcAft>
              <a:buSzPts val="1000"/>
              <a:buNone/>
              <a:tabLst>
                <a:tab pos="457200" algn="l"/>
              </a:tabLst>
            </a:pPr>
            <a:r>
              <a:rPr lang="en-US" sz="1600" dirty="0">
                <a:effectLst/>
                <a:ea typeface="Calibri" panose="020F0502020204030204" pitchFamily="34" charset="0"/>
                <a:cs typeface="Mangal" panose="02040503050203030202" pitchFamily="18" charset="0"/>
              </a:rPr>
              <a:t> Intel i5/i7 or AMD Ryzen 5/7 (Recommended)</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1600" dirty="0">
                <a:effectLst/>
                <a:ea typeface="Calibri" panose="020F0502020204030204" pitchFamily="34" charset="0"/>
                <a:cs typeface="Mangal" panose="02040503050203030202" pitchFamily="18" charset="0"/>
              </a:rPr>
              <a:t>RAM: 4GB (Minimum) | 8GB+ (Recommended)</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1600" dirty="0">
                <a:effectLst/>
                <a:ea typeface="Calibri" panose="020F0502020204030204" pitchFamily="34" charset="0"/>
                <a:cs typeface="Mangal" panose="02040503050203030202" pitchFamily="18" charset="0"/>
              </a:rPr>
              <a:t>Storage: 20GB HDD (Minimum) | 50GB+ SSD (Recommended)</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1600" dirty="0">
                <a:effectLst/>
                <a:ea typeface="Calibri" panose="020F0502020204030204" pitchFamily="34" charset="0"/>
                <a:cs typeface="Mangal" panose="02040503050203030202" pitchFamily="18" charset="0"/>
              </a:rPr>
              <a:t>Network: 100 Mbps (Minimum) | 1 Gbps (Recommended)</a:t>
            </a:r>
          </a:p>
          <a:p>
            <a:pPr marL="0" indent="0">
              <a:buNone/>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D78F-6D23-8D10-6E36-22C8B873074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B0FE743-76AC-3A15-A809-9FBD6EA970DB}"/>
              </a:ext>
            </a:extLst>
          </p:cNvPr>
          <p:cNvSpPr>
            <a:spLocks noGrp="1"/>
          </p:cNvSpPr>
          <p:nvPr>
            <p:ph sz="quarter" idx="1"/>
          </p:nvPr>
        </p:nvSpPr>
        <p:spPr>
          <a:xfrm>
            <a:off x="457200" y="274638"/>
            <a:ext cx="7467600" cy="6199314"/>
          </a:xfrm>
        </p:spPr>
        <p:txBody>
          <a:bodyPr>
            <a:normAutofit/>
          </a:bodyPr>
          <a:lstStyle/>
          <a:p>
            <a:pPr marL="0" marR="0" algn="just">
              <a:lnSpc>
                <a:spcPct val="115000"/>
              </a:lnSpc>
              <a:spcAft>
                <a:spcPts val="1000"/>
              </a:spcAft>
            </a:pPr>
            <a:r>
              <a:rPr lang="en-US" sz="1600" b="1" dirty="0">
                <a:effectLst/>
                <a:ea typeface="Calibri" panose="020F0502020204030204" pitchFamily="34" charset="0"/>
                <a:cs typeface="Mangal" panose="02040503050203030202" pitchFamily="18" charset="0"/>
              </a:rPr>
              <a:t>Software Requirements</a:t>
            </a:r>
            <a:endParaRPr lang="en-US" sz="1600" dirty="0">
              <a:effectLst/>
              <a:ea typeface="Calibri" panose="020F0502020204030204" pitchFamily="34" charset="0"/>
              <a:cs typeface="Mangal" panose="02040503050203030202" pitchFamily="18" charset="0"/>
            </a:endParaRP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1600" dirty="0">
                <a:effectLst/>
                <a:ea typeface="Calibri" panose="020F0502020204030204" pitchFamily="34" charset="0"/>
                <a:cs typeface="Mangal" panose="02040503050203030202" pitchFamily="18" charset="0"/>
              </a:rPr>
              <a:t>Nmap (for network scanning)</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1600" dirty="0">
                <a:effectLst/>
                <a:ea typeface="Calibri" panose="020F0502020204030204" pitchFamily="34" charset="0"/>
                <a:cs typeface="Mangal" panose="02040503050203030202" pitchFamily="18" charset="0"/>
              </a:rPr>
              <a:t>JavaScript Scanner (e.g., ZAP, Burp Suite)</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1600" dirty="0">
                <a:effectLst/>
                <a:ea typeface="Calibri" panose="020F0502020204030204" pitchFamily="34" charset="0"/>
                <a:cs typeface="Mangal" panose="02040503050203030202" pitchFamily="18" charset="0"/>
              </a:rPr>
              <a:t>Subfinder (for subdomain enumeration)</a:t>
            </a:r>
          </a:p>
        </p:txBody>
      </p:sp>
    </p:spTree>
    <p:extLst>
      <p:ext uri="{BB962C8B-B14F-4D97-AF65-F5344CB8AC3E}">
        <p14:creationId xmlns:p14="http://schemas.microsoft.com/office/powerpoint/2010/main" val="385384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4728" y="-99392"/>
            <a:ext cx="7467600" cy="1143000"/>
          </a:xfrm>
        </p:spPr>
        <p:txBody>
          <a:bodyPr>
            <a:normAutofit/>
          </a:bodyPr>
          <a:lstStyle/>
          <a:p>
            <a:r>
              <a:rPr lang="en-US" dirty="0"/>
              <a:t>Modules and its short description</a:t>
            </a:r>
          </a:p>
        </p:txBody>
      </p:sp>
      <p:sp>
        <p:nvSpPr>
          <p:cNvPr id="4" name="Action Button: Home 3">
            <a:hlinkClick r:id="rId2" action="ppaction://hlinksldjump" highlightClick="1"/>
          </p:cNvPr>
          <p:cNvSpPr/>
          <p:nvPr/>
        </p:nvSpPr>
        <p:spPr>
          <a:xfrm>
            <a:off x="8104382" y="5733256"/>
            <a:ext cx="644082" cy="648072"/>
          </a:xfrm>
          <a:prstGeom prst="actionButtonHome">
            <a:avLst/>
          </a:prstGeom>
          <a:solidFill>
            <a:schemeClr val="accent1"/>
          </a:solidFill>
          <a:ln>
            <a:gradFill>
              <a:gsLst>
                <a:gs pos="0">
                  <a:schemeClr val="tx1"/>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a:extLst>
              <a:ext uri="{FF2B5EF4-FFF2-40B4-BE49-F238E27FC236}">
                <a16:creationId xmlns:a16="http://schemas.microsoft.com/office/drawing/2014/main" id="{0531AD33-9E01-31FA-A7FE-E038BC71CB12}"/>
              </a:ext>
            </a:extLst>
          </p:cNvPr>
          <p:cNvSpPr>
            <a:spLocks noGrp="1" noChangeArrowheads="1"/>
          </p:cNvSpPr>
          <p:nvPr>
            <p:ph sz="quarter" idx="1"/>
          </p:nvPr>
        </p:nvSpPr>
        <p:spPr bwMode="auto">
          <a:xfrm>
            <a:off x="395536" y="1196752"/>
            <a:ext cx="7645625"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Network Scanning</a:t>
            </a:r>
            <a:r>
              <a:rPr kumimoji="0" lang="en-US" altLang="en-US" sz="1600" b="0" i="0" u="none" strike="noStrike" cap="none" normalizeH="0" baseline="0" dirty="0">
                <a:ln>
                  <a:noFill/>
                </a:ln>
                <a:solidFill>
                  <a:schemeClr val="tx1"/>
                </a:solidFill>
                <a:effectLst/>
              </a:rPr>
              <a:t> – Uses </a:t>
            </a:r>
            <a:r>
              <a:rPr kumimoji="0" lang="en-US" altLang="en-US" sz="1600" b="1" i="0" u="none" strike="noStrike" cap="none" normalizeH="0" baseline="0" dirty="0">
                <a:ln>
                  <a:noFill/>
                </a:ln>
                <a:solidFill>
                  <a:schemeClr val="tx1"/>
                </a:solidFill>
                <a:effectLst/>
              </a:rPr>
              <a:t>Nmap</a:t>
            </a:r>
            <a:r>
              <a:rPr kumimoji="0" lang="en-US" altLang="en-US" sz="1600" b="0" i="0" u="none" strike="noStrike" cap="none" normalizeH="0" baseline="0" dirty="0">
                <a:ln>
                  <a:noFill/>
                </a:ln>
                <a:solidFill>
                  <a:schemeClr val="tx1"/>
                </a:solidFill>
                <a:effectLst/>
              </a:rPr>
              <a:t> to discover live hosts, open ports, and services on a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Port Scanning</a:t>
            </a:r>
            <a:r>
              <a:rPr kumimoji="0" lang="en-US" altLang="en-US" sz="1600" b="0" i="0" u="none" strike="noStrike" cap="none" normalizeH="0" baseline="0" dirty="0">
                <a:ln>
                  <a:noFill/>
                </a:ln>
                <a:solidFill>
                  <a:schemeClr val="tx1"/>
                </a:solidFill>
                <a:effectLst/>
              </a:rPr>
              <a:t> – Identifies open and vulnerable ports that attackers can exploit.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OS &amp; Service Detection</a:t>
            </a:r>
            <a:r>
              <a:rPr kumimoji="0" lang="en-US" altLang="en-US" sz="1600" b="0" i="0" u="none" strike="noStrike" cap="none" normalizeH="0" baseline="0" dirty="0">
                <a:ln>
                  <a:noFill/>
                </a:ln>
                <a:solidFill>
                  <a:schemeClr val="tx1"/>
                </a:solidFill>
                <a:effectLst/>
              </a:rPr>
              <a:t> – Detects operating systems and running services on target machines.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Firewall Evasion</a:t>
            </a:r>
            <a:r>
              <a:rPr kumimoji="0" lang="en-US" altLang="en-US" sz="1600" b="0" i="0" u="none" strike="noStrike" cap="none" normalizeH="0" baseline="0" dirty="0">
                <a:ln>
                  <a:noFill/>
                </a:ln>
                <a:solidFill>
                  <a:schemeClr val="tx1"/>
                </a:solidFill>
                <a:effectLst/>
              </a:rPr>
              <a:t> – Bypasses or analyzes firewall rules to identify security gaps.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Web Application Security</a:t>
            </a:r>
            <a:r>
              <a:rPr kumimoji="0" lang="en-US" altLang="en-US" sz="1600" b="0" i="0" u="none" strike="noStrike" cap="none" normalizeH="0" baseline="0" dirty="0">
                <a:ln>
                  <a:noFill/>
                </a:ln>
                <a:solidFill>
                  <a:schemeClr val="tx1"/>
                </a:solidFill>
                <a:effectLst/>
              </a:rPr>
              <a:t> – Uses </a:t>
            </a:r>
            <a:r>
              <a:rPr kumimoji="0" lang="en-US" altLang="en-US" sz="1600" b="1" i="0" u="none" strike="noStrike" cap="none" normalizeH="0" baseline="0" dirty="0">
                <a:ln>
                  <a:noFill/>
                </a:ln>
                <a:solidFill>
                  <a:schemeClr val="tx1"/>
                </a:solidFill>
                <a:effectLst/>
              </a:rPr>
              <a:t>JavaScript Scanner</a:t>
            </a:r>
            <a:r>
              <a:rPr kumimoji="0" lang="en-US" altLang="en-US" sz="1600" b="0" i="0" u="none" strike="noStrike" cap="none" normalizeH="0" baseline="0" dirty="0">
                <a:ln>
                  <a:noFill/>
                </a:ln>
                <a:solidFill>
                  <a:schemeClr val="tx1"/>
                </a:solidFill>
                <a:effectLst/>
              </a:rPr>
              <a:t> to detect vulnerabilities like </a:t>
            </a:r>
            <a:r>
              <a:rPr kumimoji="0" lang="en-US" altLang="en-US" sz="1600" b="1" i="0" u="none" strike="noStrike" cap="none" normalizeH="0" baseline="0" dirty="0">
                <a:ln>
                  <a:noFill/>
                </a:ln>
                <a:solidFill>
                  <a:schemeClr val="tx1"/>
                </a:solidFill>
                <a:effectLst/>
              </a:rPr>
              <a:t>XSS</a:t>
            </a:r>
            <a:r>
              <a:rPr kumimoji="0" lang="en-US" altLang="en-US" sz="1600" b="0" i="0" u="none" strike="noStrike" cap="none" normalizeH="0" baseline="0" dirty="0">
                <a:ln>
                  <a:noFill/>
                </a:ln>
                <a:solidFill>
                  <a:schemeClr val="tx1"/>
                </a:solidFill>
                <a:effectLst/>
              </a:rPr>
              <a:t> and </a:t>
            </a:r>
            <a:r>
              <a:rPr kumimoji="0" lang="en-US" altLang="en-US" sz="1600" b="1" i="0" u="none" strike="noStrike" cap="none" normalizeH="0" baseline="0" dirty="0">
                <a:ln>
                  <a:noFill/>
                </a:ln>
                <a:solidFill>
                  <a:schemeClr val="tx1"/>
                </a:solidFill>
                <a:effectLst/>
              </a:rPr>
              <a:t>SQL Injection</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Automated Security Testing</a:t>
            </a:r>
            <a:r>
              <a:rPr kumimoji="0" lang="en-US" altLang="en-US" sz="1600" b="0" i="0" u="none" strike="noStrike" cap="none" normalizeH="0" baseline="0" dirty="0">
                <a:ln>
                  <a:noFill/>
                </a:ln>
                <a:solidFill>
                  <a:schemeClr val="tx1"/>
                </a:solidFill>
                <a:effectLst/>
              </a:rPr>
              <a:t> – Automates vulnerability assessments and penetration tests.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Code Analysis</a:t>
            </a:r>
            <a:r>
              <a:rPr kumimoji="0" lang="en-US" altLang="en-US" sz="1600" b="0" i="0" u="none" strike="noStrike" cap="none" normalizeH="0" baseline="0" dirty="0">
                <a:ln>
                  <a:noFill/>
                </a:ln>
                <a:solidFill>
                  <a:schemeClr val="tx1"/>
                </a:solidFill>
                <a:effectLst/>
              </a:rPr>
              <a:t> – Analyzes JavaScript code for security flaws and obfuscation.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Subdomain Enumeration</a:t>
            </a:r>
            <a:r>
              <a:rPr kumimoji="0" lang="en-US" altLang="en-US" sz="1600" b="0" i="0" u="none" strike="noStrike" cap="none" normalizeH="0" baseline="0" dirty="0">
                <a:ln>
                  <a:noFill/>
                </a:ln>
                <a:solidFill>
                  <a:schemeClr val="tx1"/>
                </a:solidFill>
                <a:effectLst/>
              </a:rPr>
              <a:t> – Uses </a:t>
            </a:r>
            <a:r>
              <a:rPr kumimoji="0" lang="en-US" altLang="en-US" sz="1600" b="1" i="0" u="none" strike="noStrike" cap="none" normalizeH="0" baseline="0" dirty="0">
                <a:ln>
                  <a:noFill/>
                </a:ln>
                <a:solidFill>
                  <a:schemeClr val="tx1"/>
                </a:solidFill>
                <a:effectLst/>
              </a:rPr>
              <a:t>Subfinder</a:t>
            </a:r>
            <a:r>
              <a:rPr kumimoji="0" lang="en-US" altLang="en-US" sz="1600" b="0" i="0" u="none" strike="noStrike" cap="none" normalizeH="0" baseline="0" dirty="0">
                <a:ln>
                  <a:noFill/>
                </a:ln>
                <a:solidFill>
                  <a:schemeClr val="tx1"/>
                </a:solidFill>
                <a:effectLst/>
              </a:rPr>
              <a:t> to find hidden or forgotten subdomains.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Subdomain Brute Force</a:t>
            </a:r>
            <a:r>
              <a:rPr kumimoji="0" lang="en-US" altLang="en-US" sz="1600" b="0" i="0" u="none" strike="noStrike" cap="none" normalizeH="0" baseline="0" dirty="0">
                <a:ln>
                  <a:noFill/>
                </a:ln>
                <a:solidFill>
                  <a:schemeClr val="tx1"/>
                </a:solidFill>
                <a:effectLst/>
              </a:rPr>
              <a:t> – Enhances subdomain enumeration by brute-forcing potential subdomains.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Penetration Testing</a:t>
            </a:r>
            <a:r>
              <a:rPr kumimoji="0" lang="en-US" altLang="en-US" sz="1600" b="0" i="0" u="none" strike="noStrike" cap="none" normalizeH="0" baseline="0" dirty="0">
                <a:ln>
                  <a:noFill/>
                </a:ln>
                <a:solidFill>
                  <a:schemeClr val="tx1"/>
                </a:solidFill>
                <a:effectLst/>
              </a:rPr>
              <a:t> – Identifies and exploits vulnerabilities to assess security risks.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Bug Bounty Hunting</a:t>
            </a:r>
            <a:r>
              <a:rPr kumimoji="0" lang="en-US" altLang="en-US" sz="1600" b="0" i="0" u="none" strike="noStrike" cap="none" normalizeH="0" baseline="0" dirty="0">
                <a:ln>
                  <a:noFill/>
                </a:ln>
                <a:solidFill>
                  <a:schemeClr val="tx1"/>
                </a:solidFill>
                <a:effectLst/>
              </a:rPr>
              <a:t> – Helps security researchers find and report vulnerabilities in web applications</a:t>
            </a:r>
            <a:r>
              <a:rPr kumimoji="0" lang="en-US" altLang="en-US" sz="1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528" y="-171400"/>
            <a:ext cx="7467600" cy="1143000"/>
          </a:xfrm>
        </p:spPr>
        <p:txBody>
          <a:bodyPr>
            <a:normAutofit/>
          </a:bodyPr>
          <a:lstStyle/>
          <a:p>
            <a:r>
              <a:rPr lang="en-US" dirty="0"/>
              <a:t>Features and its short description</a:t>
            </a:r>
          </a:p>
        </p:txBody>
      </p:sp>
      <p:sp>
        <p:nvSpPr>
          <p:cNvPr id="2" name="Content Placeholder 1">
            <a:extLst>
              <a:ext uri="{FF2B5EF4-FFF2-40B4-BE49-F238E27FC236}">
                <a16:creationId xmlns:a16="http://schemas.microsoft.com/office/drawing/2014/main" id="{43C05E67-845F-C736-66A1-28A255F41706}"/>
              </a:ext>
            </a:extLst>
          </p:cNvPr>
          <p:cNvSpPr>
            <a:spLocks noGrp="1" noChangeArrowheads="1"/>
          </p:cNvSpPr>
          <p:nvPr>
            <p:ph sz="quarter" idx="1"/>
          </p:nvPr>
        </p:nvSpPr>
        <p:spPr bwMode="auto">
          <a:xfrm>
            <a:off x="323528" y="1196752"/>
            <a:ext cx="842449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Automated Network Scanning</a:t>
            </a:r>
            <a:r>
              <a:rPr kumimoji="0" lang="en-US" altLang="en-US" sz="1600" b="0" i="0" u="none" strike="noStrike" cap="none" normalizeH="0" baseline="0" dirty="0">
                <a:ln>
                  <a:noFill/>
                </a:ln>
                <a:solidFill>
                  <a:schemeClr val="tx1"/>
                </a:solidFill>
                <a:effectLst/>
              </a:rPr>
              <a:t> – Uses </a:t>
            </a:r>
            <a:r>
              <a:rPr kumimoji="0" lang="en-US" altLang="en-US" sz="1600" b="1" i="0" u="none" strike="noStrike" cap="none" normalizeH="0" baseline="0" dirty="0">
                <a:ln>
                  <a:noFill/>
                </a:ln>
                <a:solidFill>
                  <a:schemeClr val="tx1"/>
                </a:solidFill>
                <a:effectLst/>
              </a:rPr>
              <a:t>Nmap</a:t>
            </a:r>
            <a:r>
              <a:rPr kumimoji="0" lang="en-US" altLang="en-US" sz="1600" b="0" i="0" u="none" strike="noStrike" cap="none" normalizeH="0" baseline="0" dirty="0">
                <a:ln>
                  <a:noFill/>
                </a:ln>
                <a:solidFill>
                  <a:schemeClr val="tx1"/>
                </a:solidFill>
                <a:effectLst/>
              </a:rPr>
              <a:t> to quickly scan and identify network hosts, open ports, and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Port and Vulnerability Detection</a:t>
            </a:r>
            <a:r>
              <a:rPr kumimoji="0" lang="en-US" altLang="en-US" sz="1600" b="0" i="0" u="none" strike="noStrike" cap="none" normalizeH="0" baseline="0" dirty="0">
                <a:ln>
                  <a:noFill/>
                </a:ln>
                <a:solidFill>
                  <a:schemeClr val="tx1"/>
                </a:solidFill>
                <a:effectLst/>
              </a:rPr>
              <a:t> – Identifies </a:t>
            </a:r>
            <a:r>
              <a:rPr kumimoji="0" lang="en-US" altLang="en-US" sz="1600" b="1" i="0" u="none" strike="noStrike" cap="none" normalizeH="0" baseline="0" dirty="0">
                <a:ln>
                  <a:noFill/>
                </a:ln>
                <a:solidFill>
                  <a:schemeClr val="tx1"/>
                </a:solidFill>
                <a:effectLst/>
              </a:rPr>
              <a:t>open ports</a:t>
            </a:r>
            <a:r>
              <a:rPr kumimoji="0" lang="en-US" altLang="en-US" sz="1600" b="0" i="0" u="none" strike="noStrike" cap="none" normalizeH="0" baseline="0" dirty="0">
                <a:ln>
                  <a:noFill/>
                </a:ln>
                <a:solidFill>
                  <a:schemeClr val="tx1"/>
                </a:solidFill>
                <a:effectLst/>
              </a:rPr>
              <a:t> and possible vulnerabilities in network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OS and Service Fingerprinting</a:t>
            </a:r>
            <a:r>
              <a:rPr kumimoji="0" lang="en-US" altLang="en-US" sz="1600" b="0" i="0" u="none" strike="noStrike" cap="none" normalizeH="0" baseline="0" dirty="0">
                <a:ln>
                  <a:noFill/>
                </a:ln>
                <a:solidFill>
                  <a:schemeClr val="tx1"/>
                </a:solidFill>
                <a:effectLst/>
              </a:rPr>
              <a:t> – Detects the </a:t>
            </a:r>
            <a:r>
              <a:rPr kumimoji="0" lang="en-US" altLang="en-US" sz="1600" b="1" i="0" u="none" strike="noStrike" cap="none" normalizeH="0" baseline="0" dirty="0">
                <a:ln>
                  <a:noFill/>
                </a:ln>
                <a:solidFill>
                  <a:schemeClr val="tx1"/>
                </a:solidFill>
                <a:effectLst/>
              </a:rPr>
              <a:t>operating system</a:t>
            </a:r>
            <a:r>
              <a:rPr kumimoji="0" lang="en-US" altLang="en-US" sz="1600" b="0" i="0" u="none" strike="noStrike" cap="none" normalizeH="0" baseline="0" dirty="0">
                <a:ln>
                  <a:noFill/>
                </a:ln>
                <a:solidFill>
                  <a:schemeClr val="tx1"/>
                </a:solidFill>
                <a:effectLst/>
              </a:rPr>
              <a:t> and running services on target machines.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Firewall and IDS Evasion</a:t>
            </a:r>
            <a:r>
              <a:rPr kumimoji="0" lang="en-US" altLang="en-US" sz="1600" b="0" i="0" u="none" strike="noStrike" cap="none" normalizeH="0" baseline="0" dirty="0">
                <a:ln>
                  <a:noFill/>
                </a:ln>
                <a:solidFill>
                  <a:schemeClr val="tx1"/>
                </a:solidFill>
                <a:effectLst/>
              </a:rPr>
              <a:t> – Bypasses firewalls and intrusion detection systems to assess security weaknesses.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Web Application Security Testing</a:t>
            </a:r>
            <a:r>
              <a:rPr kumimoji="0" lang="en-US" altLang="en-US" sz="1600" b="0" i="0" u="none" strike="noStrike" cap="none" normalizeH="0" baseline="0" dirty="0">
                <a:ln>
                  <a:noFill/>
                </a:ln>
                <a:solidFill>
                  <a:schemeClr val="tx1"/>
                </a:solidFill>
                <a:effectLst/>
              </a:rPr>
              <a:t> – Uses </a:t>
            </a:r>
            <a:r>
              <a:rPr kumimoji="0" lang="en-US" altLang="en-US" sz="1600" b="1" i="0" u="none" strike="noStrike" cap="none" normalizeH="0" baseline="0" dirty="0">
                <a:ln>
                  <a:noFill/>
                </a:ln>
                <a:solidFill>
                  <a:schemeClr val="tx1"/>
                </a:solidFill>
                <a:effectLst/>
              </a:rPr>
              <a:t>JavaScript Scanner</a:t>
            </a:r>
            <a:r>
              <a:rPr kumimoji="0" lang="en-US" altLang="en-US" sz="1600" b="0" i="0" u="none" strike="noStrike" cap="none" normalizeH="0" baseline="0" dirty="0">
                <a:ln>
                  <a:noFill/>
                </a:ln>
                <a:solidFill>
                  <a:schemeClr val="tx1"/>
                </a:solidFill>
                <a:effectLst/>
              </a:rPr>
              <a:t> to detect </a:t>
            </a:r>
            <a:r>
              <a:rPr kumimoji="0" lang="en-US" altLang="en-US" sz="1600" b="1" i="0" u="none" strike="noStrike" cap="none" normalizeH="0" baseline="0" dirty="0">
                <a:ln>
                  <a:noFill/>
                </a:ln>
                <a:solidFill>
                  <a:schemeClr val="tx1"/>
                </a:solidFill>
                <a:effectLst/>
              </a:rPr>
              <a:t>XSS, SQL Injection, and other web vulnerabilities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Automated Security Audits</a:t>
            </a:r>
            <a:r>
              <a:rPr kumimoji="0" lang="en-US" altLang="en-US" sz="1600" b="0" i="0" u="none" strike="noStrike" cap="none" normalizeH="0" baseline="0" dirty="0">
                <a:ln>
                  <a:noFill/>
                </a:ln>
                <a:solidFill>
                  <a:schemeClr val="tx1"/>
                </a:solidFill>
                <a:effectLst/>
              </a:rPr>
              <a:t> – Conducts </a:t>
            </a:r>
            <a:r>
              <a:rPr kumimoji="0" lang="en-US" altLang="en-US" sz="1600" b="1" i="0" u="none" strike="noStrike" cap="none" normalizeH="0" baseline="0" dirty="0">
                <a:ln>
                  <a:noFill/>
                </a:ln>
                <a:solidFill>
                  <a:schemeClr val="tx1"/>
                </a:solidFill>
                <a:effectLst/>
              </a:rPr>
              <a:t>regular and automated security assessments</a:t>
            </a:r>
            <a:r>
              <a:rPr kumimoji="0" lang="en-US" altLang="en-US" sz="1600" b="0" i="0" u="none" strike="noStrike" cap="none" normalizeH="0" baseline="0" dirty="0">
                <a:ln>
                  <a:noFill/>
                </a:ln>
                <a:solidFill>
                  <a:schemeClr val="tx1"/>
                </a:solidFill>
                <a:effectLst/>
              </a:rPr>
              <a:t> for proactive risk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Code Security Analysis</a:t>
            </a:r>
            <a:r>
              <a:rPr kumimoji="0" lang="en-US" altLang="en-US" sz="1600" b="0" i="0" u="none" strike="noStrike" cap="none" normalizeH="0" baseline="0" dirty="0">
                <a:ln>
                  <a:noFill/>
                </a:ln>
                <a:solidFill>
                  <a:schemeClr val="tx1"/>
                </a:solidFill>
                <a:effectLst/>
              </a:rPr>
              <a:t> – Analyzes </a:t>
            </a:r>
            <a:r>
              <a:rPr kumimoji="0" lang="en-US" altLang="en-US" sz="1600" b="1" i="0" u="none" strike="noStrike" cap="none" normalizeH="0" baseline="0" dirty="0">
                <a:ln>
                  <a:noFill/>
                </a:ln>
                <a:solidFill>
                  <a:schemeClr val="tx1"/>
                </a:solidFill>
                <a:effectLst/>
              </a:rPr>
              <a:t>JavaScript code</a:t>
            </a:r>
            <a:r>
              <a:rPr kumimoji="0" lang="en-US" altLang="en-US" sz="1600" b="0" i="0" u="none" strike="noStrike" cap="none" normalizeH="0" baseline="0" dirty="0">
                <a:ln>
                  <a:noFill/>
                </a:ln>
                <a:solidFill>
                  <a:schemeClr val="tx1"/>
                </a:solidFill>
                <a:effectLst/>
              </a:rPr>
              <a:t> for vulnerabilities and obfuscation.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Subdomain Enumeration</a:t>
            </a:r>
            <a:r>
              <a:rPr kumimoji="0" lang="en-US" altLang="en-US" sz="1600" b="0" i="0" u="none" strike="noStrike" cap="none" normalizeH="0" baseline="0" dirty="0">
                <a:ln>
                  <a:noFill/>
                </a:ln>
                <a:solidFill>
                  <a:schemeClr val="tx1"/>
                </a:solidFill>
                <a:effectLst/>
              </a:rPr>
              <a:t> – Uses </a:t>
            </a:r>
            <a:r>
              <a:rPr kumimoji="0" lang="en-US" altLang="en-US" sz="1600" b="1" i="0" u="none" strike="noStrike" cap="none" normalizeH="0" baseline="0" dirty="0">
                <a:ln>
                  <a:noFill/>
                </a:ln>
                <a:solidFill>
                  <a:schemeClr val="tx1"/>
                </a:solidFill>
                <a:effectLst/>
              </a:rPr>
              <a:t>Subfinder</a:t>
            </a:r>
            <a:r>
              <a:rPr kumimoji="0" lang="en-US" altLang="en-US" sz="1600" b="0" i="0" u="none" strike="noStrike" cap="none" normalizeH="0" baseline="0" dirty="0">
                <a:ln>
                  <a:noFill/>
                </a:ln>
                <a:solidFill>
                  <a:schemeClr val="tx1"/>
                </a:solidFill>
                <a:effectLst/>
              </a:rPr>
              <a:t> to discover hidden or forgotten subdomains.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Brute Force Subdomain Detection</a:t>
            </a:r>
            <a:r>
              <a:rPr kumimoji="0" lang="en-US" altLang="en-US" sz="1600" b="0" i="0" u="none" strike="noStrike" cap="none" normalizeH="0" baseline="0" dirty="0">
                <a:ln>
                  <a:noFill/>
                </a:ln>
                <a:solidFill>
                  <a:schemeClr val="tx1"/>
                </a:solidFill>
                <a:effectLst/>
              </a:rPr>
              <a:t> – Enhances subdomain enumeration by brute-forcing potential domain names.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Penetration Testing Support</a:t>
            </a:r>
            <a:r>
              <a:rPr kumimoji="0" lang="en-US" altLang="en-US" sz="1600" b="0" i="0" u="none" strike="noStrike" cap="none" normalizeH="0" baseline="0" dirty="0">
                <a:ln>
                  <a:noFill/>
                </a:ln>
                <a:solidFill>
                  <a:schemeClr val="tx1"/>
                </a:solidFill>
                <a:effectLst/>
              </a:rPr>
              <a:t> – Simulates real-world cyberattacks to assess system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Bug Bounty Assistance</a:t>
            </a:r>
            <a:r>
              <a:rPr kumimoji="0" lang="en-US" altLang="en-US" sz="1600" b="0" i="0" u="none" strike="noStrike" cap="none" normalizeH="0" baseline="0" dirty="0">
                <a:ln>
                  <a:noFill/>
                </a:ln>
                <a:solidFill>
                  <a:schemeClr val="tx1"/>
                </a:solidFill>
                <a:effectLst/>
              </a:rPr>
              <a:t> – Helps researchers identify vulnerabilities in web applications and networks. </a:t>
            </a:r>
          </a:p>
        </p:txBody>
      </p:sp>
    </p:spTree>
    <p:extLst>
      <p:ext uri="{BB962C8B-B14F-4D97-AF65-F5344CB8AC3E}">
        <p14:creationId xmlns:p14="http://schemas.microsoft.com/office/powerpoint/2010/main" val="800114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7504" y="-571500"/>
            <a:ext cx="7467600" cy="1143000"/>
          </a:xfrm>
        </p:spPr>
        <p:txBody>
          <a:bodyPr>
            <a:normAutofit/>
          </a:bodyPr>
          <a:lstStyle/>
          <a:p>
            <a:r>
              <a:rPr lang="en-US" dirty="0"/>
              <a:t>Users and their role description</a:t>
            </a:r>
          </a:p>
        </p:txBody>
      </p:sp>
      <p:sp>
        <p:nvSpPr>
          <p:cNvPr id="4" name="Action Button: Home 3">
            <a:hlinkClick r:id="rId2" action="ppaction://hlinksldjump" highlightClick="1"/>
          </p:cNvPr>
          <p:cNvSpPr/>
          <p:nvPr/>
        </p:nvSpPr>
        <p:spPr>
          <a:xfrm>
            <a:off x="8104382" y="5733256"/>
            <a:ext cx="644082" cy="648072"/>
          </a:xfrm>
          <a:prstGeom prst="actionButtonHome">
            <a:avLst/>
          </a:prstGeom>
          <a:solidFill>
            <a:schemeClr val="accent1"/>
          </a:solidFill>
          <a:ln>
            <a:gradFill>
              <a:gsLst>
                <a:gs pos="0">
                  <a:schemeClr val="tx1"/>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Content Placeholder 1">
            <a:extLst>
              <a:ext uri="{FF2B5EF4-FFF2-40B4-BE49-F238E27FC236}">
                <a16:creationId xmlns:a16="http://schemas.microsoft.com/office/drawing/2014/main" id="{C3F994C4-22DD-03EF-3600-1A5999FFD42C}"/>
              </a:ext>
            </a:extLst>
          </p:cNvPr>
          <p:cNvSpPr>
            <a:spLocks noGrp="1" noChangeArrowheads="1"/>
          </p:cNvSpPr>
          <p:nvPr>
            <p:ph sz="quarter" idx="1"/>
          </p:nvPr>
        </p:nvSpPr>
        <p:spPr bwMode="auto">
          <a:xfrm>
            <a:off x="192238" y="692696"/>
            <a:ext cx="8544327"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Penetration Tester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Conducts ethical hacking and penetration testing.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Identifies security vulnerabilities and exploits weaknesses.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Uses tools like </a:t>
            </a:r>
            <a:r>
              <a:rPr kumimoji="0" lang="en-US" altLang="en-US" sz="1600" b="1" i="0" u="none" strike="noStrike" cap="none" normalizeH="0" baseline="0" dirty="0">
                <a:ln>
                  <a:noFill/>
                </a:ln>
                <a:solidFill>
                  <a:schemeClr val="tx1"/>
                </a:solidFill>
                <a:effectLst/>
              </a:rPr>
              <a:t>Nmap, Subfinder, and JS Scanner</a:t>
            </a:r>
            <a:r>
              <a:rPr kumimoji="0" lang="en-US" altLang="en-US" sz="1600" b="0" i="0" u="none" strike="noStrike" cap="none" normalizeH="0" baseline="0" dirty="0">
                <a:ln>
                  <a:noFill/>
                </a:ln>
                <a:solidFill>
                  <a:schemeClr val="tx1"/>
                </a:solidFill>
                <a:effectLst/>
              </a:rPr>
              <a:t> for security testing.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Security Analyst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Performs security assessments and monitors network threats.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Analyzes vulnerabilities and provides risk mitigation strategies.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Ensures </a:t>
            </a:r>
            <a:r>
              <a:rPr kumimoji="0" lang="en-US" altLang="en-US" sz="1600" b="1" i="0" u="none" strike="noStrike" cap="none" normalizeH="0" baseline="0" dirty="0">
                <a:ln>
                  <a:noFill/>
                </a:ln>
                <a:solidFill>
                  <a:schemeClr val="tx1"/>
                </a:solidFill>
                <a:effectLst/>
              </a:rPr>
              <a:t>compliance with security standards and policies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Administrator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Manages network configurations and security settings.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Ensures firewalls, IDS/IPS, and other security tools are functioning.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Maintains system updates and patches to prevent vulnerabilities.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Bug Bounty Hunter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Identifies security flaws in web applications and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Uses </a:t>
            </a:r>
            <a:r>
              <a:rPr kumimoji="0" lang="en-US" altLang="en-US" sz="1600" b="1" i="0" u="none" strike="noStrike" cap="none" normalizeH="0" baseline="0" dirty="0">
                <a:ln>
                  <a:noFill/>
                </a:ln>
                <a:solidFill>
                  <a:schemeClr val="tx1"/>
                </a:solidFill>
                <a:effectLst/>
              </a:rPr>
              <a:t>Subfinder, JavaScript Scanner, and vulnerability assessment tools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Reports vulnerabilities to organizations through bug bounty programs.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Compliance Officer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Ensures that security policies align with </a:t>
            </a:r>
            <a:r>
              <a:rPr kumimoji="0" lang="en-US" altLang="en-US" sz="1600" b="1" i="0" u="none" strike="noStrike" cap="none" normalizeH="0" baseline="0" dirty="0">
                <a:ln>
                  <a:noFill/>
                </a:ln>
                <a:solidFill>
                  <a:schemeClr val="tx1"/>
                </a:solidFill>
                <a:effectLst/>
              </a:rPr>
              <a:t>ISO, GDPR, NIST, and other regulations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Conducts </a:t>
            </a:r>
            <a:r>
              <a:rPr kumimoji="0" lang="en-US" altLang="en-US" sz="1600" b="1" i="0" u="none" strike="noStrike" cap="none" normalizeH="0" baseline="0" dirty="0">
                <a:ln>
                  <a:noFill/>
                </a:ln>
                <a:solidFill>
                  <a:schemeClr val="tx1"/>
                </a:solidFill>
                <a:effectLst/>
              </a:rPr>
              <a:t>security audits and compliance testing</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Works with analysts to improve organizational cybersecurity.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Ethical Hacker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Simulates cyberattacks to test system defenses.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Uses penetration testing tools to </a:t>
            </a:r>
            <a:r>
              <a:rPr kumimoji="0" lang="en-US" altLang="en-US" sz="1600" b="1" i="0" u="none" strike="noStrike" cap="none" normalizeH="0" baseline="0" dirty="0">
                <a:ln>
                  <a:noFill/>
                </a:ln>
                <a:solidFill>
                  <a:schemeClr val="tx1"/>
                </a:solidFill>
                <a:effectLst/>
              </a:rPr>
              <a:t>identify security loopholes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Helps organizations </a:t>
            </a:r>
            <a:r>
              <a:rPr kumimoji="0" lang="en-US" altLang="en-US" sz="1600" b="1" i="0" u="none" strike="noStrike" cap="none" normalizeH="0" baseline="0" dirty="0">
                <a:ln>
                  <a:noFill/>
                </a:ln>
                <a:solidFill>
                  <a:schemeClr val="tx1"/>
                </a:solidFill>
                <a:effectLst/>
              </a:rPr>
              <a:t>strengthen their cybersecurity posture</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528" y="-387424"/>
            <a:ext cx="7467600" cy="1143000"/>
          </a:xfrm>
        </p:spPr>
        <p:txBody>
          <a:bodyPr>
            <a:normAutofit/>
          </a:bodyPr>
          <a:lstStyle/>
          <a:p>
            <a:r>
              <a:rPr lang="en-US" dirty="0"/>
              <a:t>Limitations</a:t>
            </a:r>
          </a:p>
        </p:txBody>
      </p:sp>
      <p:sp>
        <p:nvSpPr>
          <p:cNvPr id="4" name="Action Button: Home 3">
            <a:hlinkClick r:id="rId2" action="ppaction://hlinksldjump" highlightClick="1"/>
          </p:cNvPr>
          <p:cNvSpPr/>
          <p:nvPr/>
        </p:nvSpPr>
        <p:spPr>
          <a:xfrm>
            <a:off x="8104382" y="5733256"/>
            <a:ext cx="644082" cy="648072"/>
          </a:xfrm>
          <a:prstGeom prst="actionButtonHome">
            <a:avLst/>
          </a:prstGeom>
          <a:solidFill>
            <a:schemeClr val="accent1"/>
          </a:solidFill>
          <a:ln>
            <a:gradFill>
              <a:gsLst>
                <a:gs pos="0">
                  <a:schemeClr val="tx1"/>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4">
            <a:extLst>
              <a:ext uri="{FF2B5EF4-FFF2-40B4-BE49-F238E27FC236}">
                <a16:creationId xmlns:a16="http://schemas.microsoft.com/office/drawing/2014/main" id="{44A48BA0-D82F-5670-CFC2-53C5CFCC3820}"/>
              </a:ext>
            </a:extLst>
          </p:cNvPr>
          <p:cNvSpPr>
            <a:spLocks noGrp="1" noChangeArrowheads="1"/>
          </p:cNvSpPr>
          <p:nvPr>
            <p:ph sz="quarter" idx="1"/>
          </p:nvPr>
        </p:nvSpPr>
        <p:spPr bwMode="auto">
          <a:xfrm>
            <a:off x="179389" y="1092786"/>
            <a:ext cx="842506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False Positives and Negatives</a:t>
            </a:r>
            <a:r>
              <a:rPr kumimoji="0" lang="en-US" altLang="en-US" sz="1600" b="0" i="0" u="none" strike="noStrike" cap="none" normalizeH="0" baseline="0" dirty="0">
                <a:ln>
                  <a:noFill/>
                </a:ln>
                <a:solidFill>
                  <a:schemeClr val="tx1"/>
                </a:solidFill>
                <a:effectLst/>
              </a:rPr>
              <a:t> – Automated scanning tools may produce inaccurate results, leading to </a:t>
            </a:r>
            <a:r>
              <a:rPr kumimoji="0" lang="en-US" altLang="en-US" sz="1600" b="1" i="0" u="none" strike="noStrike" cap="none" normalizeH="0" baseline="0" dirty="0">
                <a:ln>
                  <a:noFill/>
                </a:ln>
                <a:solidFill>
                  <a:schemeClr val="tx1"/>
                </a:solidFill>
                <a:effectLst/>
              </a:rPr>
              <a:t>misinterpretation of vulnerabilities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Performance Overhead</a:t>
            </a:r>
            <a:r>
              <a:rPr kumimoji="0" lang="en-US" altLang="en-US" sz="1600" b="0" i="0" u="none" strike="noStrike" cap="none" normalizeH="0" baseline="0" dirty="0">
                <a:ln>
                  <a:noFill/>
                </a:ln>
                <a:solidFill>
                  <a:schemeClr val="tx1"/>
                </a:solidFill>
                <a:effectLst/>
              </a:rPr>
              <a:t> – Running intensive security scans can </a:t>
            </a:r>
            <a:r>
              <a:rPr kumimoji="0" lang="en-US" altLang="en-US" sz="1600" b="1" i="0" u="none" strike="noStrike" cap="none" normalizeH="0" baseline="0" dirty="0">
                <a:ln>
                  <a:noFill/>
                </a:ln>
                <a:solidFill>
                  <a:schemeClr val="tx1"/>
                </a:solidFill>
                <a:effectLst/>
              </a:rPr>
              <a:t>consume network bandwidth and system resources</a:t>
            </a:r>
            <a:r>
              <a:rPr kumimoji="0" lang="en-US" altLang="en-US" sz="1600" b="0" i="0" u="none" strike="noStrike" cap="none" normalizeH="0" baseline="0" dirty="0">
                <a:ln>
                  <a:noFill/>
                </a:ln>
                <a:solidFill>
                  <a:schemeClr val="tx1"/>
                </a:solidFill>
                <a:effectLst/>
              </a:rPr>
              <a:t>, affecting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Limited Evasion Techniques</a:t>
            </a:r>
            <a:r>
              <a:rPr kumimoji="0" lang="en-US" altLang="en-US" sz="1600" b="0" i="0" u="none" strike="noStrike" cap="none" normalizeH="0" baseline="0" dirty="0">
                <a:ln>
                  <a:noFill/>
                </a:ln>
                <a:solidFill>
                  <a:schemeClr val="tx1"/>
                </a:solidFill>
                <a:effectLst/>
              </a:rPr>
              <a:t> – Some advanced </a:t>
            </a:r>
            <a:r>
              <a:rPr kumimoji="0" lang="en-US" altLang="en-US" sz="1600" b="1" i="0" u="none" strike="noStrike" cap="none" normalizeH="0" baseline="0" dirty="0">
                <a:ln>
                  <a:noFill/>
                </a:ln>
                <a:solidFill>
                  <a:schemeClr val="tx1"/>
                </a:solidFill>
                <a:effectLst/>
              </a:rPr>
              <a:t>firewalls and IDS/IPS</a:t>
            </a:r>
            <a:r>
              <a:rPr kumimoji="0" lang="en-US" altLang="en-US" sz="1600" b="0" i="0" u="none" strike="noStrike" cap="none" normalizeH="0" baseline="0" dirty="0">
                <a:ln>
                  <a:noFill/>
                </a:ln>
                <a:solidFill>
                  <a:schemeClr val="tx1"/>
                </a:solidFill>
                <a:effectLst/>
              </a:rPr>
              <a:t> can detect and block scanning attempts, reducing effectiveness.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Dependency on Signature-Based Detection</a:t>
            </a:r>
            <a:r>
              <a:rPr kumimoji="0" lang="en-US" altLang="en-US" sz="1600" b="0" i="0" u="none" strike="noStrike" cap="none" normalizeH="0" baseline="0" dirty="0">
                <a:ln>
                  <a:noFill/>
                </a:ln>
                <a:solidFill>
                  <a:schemeClr val="tx1"/>
                </a:solidFill>
                <a:effectLst/>
              </a:rPr>
              <a:t> – Some vulnerability assessments </a:t>
            </a:r>
            <a:r>
              <a:rPr kumimoji="0" lang="en-US" altLang="en-US" sz="1600" b="1" i="0" u="none" strike="noStrike" cap="none" normalizeH="0" baseline="0" dirty="0">
                <a:ln>
                  <a:noFill/>
                </a:ln>
                <a:solidFill>
                  <a:schemeClr val="tx1"/>
                </a:solidFill>
                <a:effectLst/>
              </a:rPr>
              <a:t>rely on known attack patterns</a:t>
            </a:r>
            <a:r>
              <a:rPr kumimoji="0" lang="en-US" altLang="en-US" sz="1600" b="0" i="0" u="none" strike="noStrike" cap="none" normalizeH="0" baseline="0" dirty="0">
                <a:ln>
                  <a:noFill/>
                </a:ln>
                <a:solidFill>
                  <a:schemeClr val="tx1"/>
                </a:solidFill>
                <a:effectLst/>
              </a:rPr>
              <a:t>, making them ineffective against </a:t>
            </a:r>
            <a:r>
              <a:rPr kumimoji="0" lang="en-US" altLang="en-US" sz="1600" b="1" i="0" u="none" strike="noStrike" cap="none" normalizeH="0" baseline="0" dirty="0">
                <a:ln>
                  <a:noFill/>
                </a:ln>
                <a:solidFill>
                  <a:schemeClr val="tx1"/>
                </a:solidFill>
                <a:effectLst/>
              </a:rPr>
              <a:t>zero-day exploits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Legal and Ethical Concerns</a:t>
            </a:r>
            <a:r>
              <a:rPr kumimoji="0" lang="en-US" altLang="en-US" sz="1600" b="0" i="0" u="none" strike="noStrike" cap="none" normalizeH="0" baseline="0" dirty="0">
                <a:ln>
                  <a:noFill/>
                </a:ln>
                <a:solidFill>
                  <a:schemeClr val="tx1"/>
                </a:solidFill>
                <a:effectLst/>
              </a:rPr>
              <a:t> – Unauthorized scanning can </a:t>
            </a:r>
            <a:r>
              <a:rPr kumimoji="0" lang="en-US" altLang="en-US" sz="1600" b="1" i="0" u="none" strike="noStrike" cap="none" normalizeH="0" baseline="0" dirty="0">
                <a:ln>
                  <a:noFill/>
                </a:ln>
                <a:solidFill>
                  <a:schemeClr val="tx1"/>
                </a:solidFill>
                <a:effectLst/>
              </a:rPr>
              <a:t>violate cybersecurity laws</a:t>
            </a:r>
            <a:r>
              <a:rPr kumimoji="0" lang="en-US" altLang="en-US" sz="1600" b="0" i="0" u="none" strike="noStrike" cap="none" normalizeH="0" baseline="0" dirty="0">
                <a:ln>
                  <a:noFill/>
                </a:ln>
                <a:solidFill>
                  <a:schemeClr val="tx1"/>
                </a:solidFill>
                <a:effectLst/>
              </a:rPr>
              <a:t> if not conducted with proper permissions.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Skill Dependency</a:t>
            </a:r>
            <a:r>
              <a:rPr kumimoji="0" lang="en-US" altLang="en-US" sz="1600" b="0" i="0" u="none" strike="noStrike" cap="none" normalizeH="0" baseline="0" dirty="0">
                <a:ln>
                  <a:noFill/>
                </a:ln>
                <a:solidFill>
                  <a:schemeClr val="tx1"/>
                </a:solidFill>
                <a:effectLst/>
              </a:rPr>
              <a:t> – Effective use of tools like </a:t>
            </a:r>
            <a:r>
              <a:rPr kumimoji="0" lang="en-US" altLang="en-US" sz="1600" b="1" i="0" u="none" strike="noStrike" cap="none" normalizeH="0" baseline="0" dirty="0">
                <a:ln>
                  <a:noFill/>
                </a:ln>
                <a:solidFill>
                  <a:schemeClr val="tx1"/>
                </a:solidFill>
                <a:effectLst/>
              </a:rPr>
              <a:t>Nmap, Subfinder, and JavaScript Scanner</a:t>
            </a:r>
            <a:r>
              <a:rPr kumimoji="0" lang="en-US" altLang="en-US" sz="1600" b="0" i="0" u="none" strike="noStrike" cap="none" normalizeH="0" baseline="0" dirty="0">
                <a:ln>
                  <a:noFill/>
                </a:ln>
                <a:solidFill>
                  <a:schemeClr val="tx1"/>
                </a:solidFill>
                <a:effectLst/>
              </a:rPr>
              <a:t> requires </a:t>
            </a:r>
            <a:r>
              <a:rPr kumimoji="0" lang="en-US" altLang="en-US" sz="1600" b="1" i="0" u="none" strike="noStrike" cap="none" normalizeH="0" baseline="0" dirty="0">
                <a:ln>
                  <a:noFill/>
                </a:ln>
                <a:solidFill>
                  <a:schemeClr val="tx1"/>
                </a:solidFill>
                <a:effectLst/>
              </a:rPr>
              <a:t>technical expertise</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Limited AI-Based Analysis</a:t>
            </a:r>
            <a:r>
              <a:rPr kumimoji="0" lang="en-US" altLang="en-US" sz="1600" b="0" i="0" u="none" strike="noStrike" cap="none" normalizeH="0" baseline="0" dirty="0">
                <a:ln>
                  <a:noFill/>
                </a:ln>
                <a:solidFill>
                  <a:schemeClr val="tx1"/>
                </a:solidFill>
                <a:effectLst/>
              </a:rPr>
              <a:t> – The system lacks </a:t>
            </a:r>
            <a:r>
              <a:rPr kumimoji="0" lang="en-US" altLang="en-US" sz="1600" b="1" i="0" u="none" strike="noStrike" cap="none" normalizeH="0" baseline="0" dirty="0">
                <a:ln>
                  <a:noFill/>
                </a:ln>
                <a:solidFill>
                  <a:schemeClr val="tx1"/>
                </a:solidFill>
                <a:effectLst/>
              </a:rPr>
              <a:t>advanced machine learning</a:t>
            </a:r>
            <a:r>
              <a:rPr kumimoji="0" lang="en-US" altLang="en-US" sz="1600" b="0" i="0" u="none" strike="noStrike" cap="none" normalizeH="0" baseline="0" dirty="0">
                <a:ln>
                  <a:noFill/>
                </a:ln>
                <a:solidFill>
                  <a:schemeClr val="tx1"/>
                </a:solidFill>
                <a:effectLst/>
              </a:rPr>
              <a:t> capabilities for </a:t>
            </a:r>
            <a:r>
              <a:rPr kumimoji="0" lang="en-US" altLang="en-US" sz="1600" b="1" i="0" u="none" strike="noStrike" cap="none" normalizeH="0" baseline="0" dirty="0">
                <a:ln>
                  <a:noFill/>
                </a:ln>
                <a:solidFill>
                  <a:schemeClr val="tx1"/>
                </a:solidFill>
                <a:effectLst/>
              </a:rPr>
              <a:t>real-time anomaly detection</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Subdomain Enumeration Accuracy</a:t>
            </a:r>
            <a:r>
              <a:rPr kumimoji="0" lang="en-US" altLang="en-US" sz="1600" b="0" i="0" u="none" strike="noStrike" cap="none" normalizeH="0" baseline="0" dirty="0">
                <a:ln>
                  <a:noFill/>
                </a:ln>
                <a:solidFill>
                  <a:schemeClr val="tx1"/>
                </a:solidFill>
                <a:effectLst/>
              </a:rPr>
              <a:t> – </a:t>
            </a:r>
            <a:r>
              <a:rPr kumimoji="0" lang="en-US" altLang="en-US" sz="1600" b="1" i="0" u="none" strike="noStrike" cap="none" normalizeH="0" baseline="0" dirty="0">
                <a:ln>
                  <a:noFill/>
                </a:ln>
                <a:solidFill>
                  <a:schemeClr val="tx1"/>
                </a:solidFill>
                <a:effectLst/>
              </a:rPr>
              <a:t>Subfinder brute force</a:t>
            </a:r>
            <a:r>
              <a:rPr kumimoji="0" lang="en-US" altLang="en-US" sz="1600" b="0" i="0" u="none" strike="noStrike" cap="none" normalizeH="0" baseline="0" dirty="0">
                <a:ln>
                  <a:noFill/>
                </a:ln>
                <a:solidFill>
                  <a:schemeClr val="tx1"/>
                </a:solidFill>
                <a:effectLst/>
              </a:rPr>
              <a:t> may </a:t>
            </a:r>
            <a:r>
              <a:rPr kumimoji="0" lang="en-US" altLang="en-US" sz="1600" b="1" i="0" u="none" strike="noStrike" cap="none" normalizeH="0" baseline="0" dirty="0">
                <a:ln>
                  <a:noFill/>
                </a:ln>
                <a:solidFill>
                  <a:schemeClr val="tx1"/>
                </a:solidFill>
                <a:effectLst/>
              </a:rPr>
              <a:t>miss certain subdomains</a:t>
            </a:r>
            <a:r>
              <a:rPr kumimoji="0" lang="en-US" altLang="en-US" sz="1600" b="0" i="0" u="none" strike="noStrike" cap="none" normalizeH="0" baseline="0" dirty="0">
                <a:ln>
                  <a:noFill/>
                </a:ln>
                <a:solidFill>
                  <a:schemeClr val="tx1"/>
                </a:solidFill>
                <a:effectLst/>
              </a:rPr>
              <a:t> or take excessive time for larger domains.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Cloud and Server Restrictions</a:t>
            </a:r>
            <a:r>
              <a:rPr kumimoji="0" lang="en-US" altLang="en-US" sz="1600" b="0" i="0" u="none" strike="noStrike" cap="none" normalizeH="0" baseline="0" dirty="0">
                <a:ln>
                  <a:noFill/>
                </a:ln>
                <a:solidFill>
                  <a:schemeClr val="tx1"/>
                </a:solidFill>
                <a:effectLst/>
              </a:rPr>
              <a:t> – Some </a:t>
            </a:r>
            <a:r>
              <a:rPr kumimoji="0" lang="en-US" altLang="en-US" sz="1600" b="1" i="0" u="none" strike="noStrike" cap="none" normalizeH="0" baseline="0" dirty="0">
                <a:ln>
                  <a:noFill/>
                </a:ln>
                <a:solidFill>
                  <a:schemeClr val="tx1"/>
                </a:solidFill>
                <a:effectLst/>
              </a:rPr>
              <a:t>cloud platforms and web services</a:t>
            </a:r>
            <a:r>
              <a:rPr kumimoji="0" lang="en-US" altLang="en-US" sz="1600" b="0" i="0" u="none" strike="noStrike" cap="none" normalizeH="0" baseline="0" dirty="0">
                <a:ln>
                  <a:noFill/>
                </a:ln>
                <a:solidFill>
                  <a:schemeClr val="tx1"/>
                </a:solidFill>
                <a:effectLst/>
              </a:rPr>
              <a:t> block automated scans, </a:t>
            </a:r>
            <a:r>
              <a:rPr kumimoji="0" lang="en-US" altLang="en-US" sz="1600" b="1" i="0" u="none" strike="noStrike" cap="none" normalizeH="0" baseline="0" dirty="0">
                <a:ln>
                  <a:noFill/>
                </a:ln>
                <a:solidFill>
                  <a:schemeClr val="tx1"/>
                </a:solidFill>
                <a:effectLst/>
              </a:rPr>
              <a:t>limiting assessment scope</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Lack of Comprehensive Reporting</a:t>
            </a:r>
            <a:r>
              <a:rPr kumimoji="0" lang="en-US" altLang="en-US" sz="1600" b="0" i="0" u="none" strike="noStrike" cap="none" normalizeH="0" baseline="0" dirty="0">
                <a:ln>
                  <a:noFill/>
                </a:ln>
                <a:solidFill>
                  <a:schemeClr val="tx1"/>
                </a:solidFill>
                <a:effectLst/>
              </a:rPr>
              <a:t> – While reports are generated, </a:t>
            </a:r>
            <a:r>
              <a:rPr kumimoji="0" lang="en-US" altLang="en-US" sz="1600" b="1" i="0" u="none" strike="noStrike" cap="none" normalizeH="0" baseline="0" dirty="0">
                <a:ln>
                  <a:noFill/>
                </a:ln>
                <a:solidFill>
                  <a:schemeClr val="tx1"/>
                </a:solidFill>
                <a:effectLst/>
              </a:rPr>
              <a:t>manual interpretation</a:t>
            </a:r>
            <a:r>
              <a:rPr kumimoji="0" lang="en-US" altLang="en-US" sz="1600" b="0" i="0" u="none" strike="noStrike" cap="none" normalizeH="0" baseline="0" dirty="0">
                <a:ln>
                  <a:noFill/>
                </a:ln>
                <a:solidFill>
                  <a:schemeClr val="tx1"/>
                </a:solidFill>
                <a:effectLst/>
              </a:rPr>
              <a:t> is often required for </a:t>
            </a:r>
            <a:r>
              <a:rPr kumimoji="0" lang="en-US" altLang="en-US" sz="1600" b="1" i="0" u="none" strike="noStrike" cap="none" normalizeH="0" baseline="0" dirty="0">
                <a:ln>
                  <a:noFill/>
                </a:ln>
                <a:solidFill>
                  <a:schemeClr val="tx1"/>
                </a:solidFill>
                <a:effectLst/>
              </a:rPr>
              <a:t>detailed risk analysis</a:t>
            </a:r>
            <a:r>
              <a:rPr kumimoji="0" lang="en-US" altLang="en-US" sz="1600" b="0" i="0" u="none" strike="noStrike" cap="none" normalizeH="0" baseline="0" dirty="0">
                <a:ln>
                  <a:noFill/>
                </a:ln>
                <a:solidFill>
                  <a:schemeClr val="tx1"/>
                </a:solidFill>
                <a:effectLst/>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754" y="-459432"/>
            <a:ext cx="7467600" cy="1143000"/>
          </a:xfrm>
        </p:spPr>
        <p:txBody>
          <a:bodyPr/>
          <a:lstStyle/>
          <a:p>
            <a:r>
              <a:rPr lang="en-US" dirty="0"/>
              <a:t>Future Enhancement</a:t>
            </a:r>
            <a:endParaRPr lang="en-IN" dirty="0"/>
          </a:p>
        </p:txBody>
      </p:sp>
      <p:sp>
        <p:nvSpPr>
          <p:cNvPr id="4" name="Action Button: Home 3">
            <a:hlinkClick r:id="rId2" action="ppaction://hlinksldjump" highlightClick="1"/>
          </p:cNvPr>
          <p:cNvSpPr/>
          <p:nvPr/>
        </p:nvSpPr>
        <p:spPr>
          <a:xfrm>
            <a:off x="8104382" y="5733256"/>
            <a:ext cx="644082" cy="648072"/>
          </a:xfrm>
          <a:prstGeom prst="actionButtonHome">
            <a:avLst/>
          </a:prstGeom>
          <a:solidFill>
            <a:schemeClr val="accent1"/>
          </a:solidFill>
          <a:ln>
            <a:gradFill>
              <a:gsLst>
                <a:gs pos="0">
                  <a:schemeClr val="tx1"/>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a:extLst>
              <a:ext uri="{FF2B5EF4-FFF2-40B4-BE49-F238E27FC236}">
                <a16:creationId xmlns:a16="http://schemas.microsoft.com/office/drawing/2014/main" id="{C9082153-B21F-BE38-B5C5-C917DB61A863}"/>
              </a:ext>
            </a:extLst>
          </p:cNvPr>
          <p:cNvSpPr>
            <a:spLocks noGrp="1" noChangeArrowheads="1"/>
          </p:cNvSpPr>
          <p:nvPr>
            <p:ph sz="quarter" idx="1"/>
          </p:nvPr>
        </p:nvSpPr>
        <p:spPr bwMode="auto">
          <a:xfrm>
            <a:off x="194519" y="3607445"/>
            <a:ext cx="4956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a:t>
            </a:r>
            <a:endParaRPr kumimoji="0" lang="en-US" altLang="en-US" sz="2000" b="0" i="0" u="none" strike="noStrike" cap="none" normalizeH="0" baseline="0" dirty="0">
              <a:ln>
                <a:noFill/>
              </a:ln>
              <a:solidFill>
                <a:schemeClr val="tx1"/>
              </a:solidFill>
              <a:effectLst/>
              <a:latin typeface="+mj-lt"/>
            </a:endParaRPr>
          </a:p>
        </p:txBody>
      </p:sp>
      <p:sp>
        <p:nvSpPr>
          <p:cNvPr id="3" name="Rectangle 1">
            <a:extLst>
              <a:ext uri="{FF2B5EF4-FFF2-40B4-BE49-F238E27FC236}">
                <a16:creationId xmlns:a16="http://schemas.microsoft.com/office/drawing/2014/main" id="{68945A78-9B9B-E9BE-745D-5919709FBA28}"/>
              </a:ext>
            </a:extLst>
          </p:cNvPr>
          <p:cNvSpPr>
            <a:spLocks noChangeArrowheads="1"/>
          </p:cNvSpPr>
          <p:nvPr/>
        </p:nvSpPr>
        <p:spPr bwMode="auto">
          <a:xfrm>
            <a:off x="58929" y="920621"/>
            <a:ext cx="8710246"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AI-Powered Threat Detection</a:t>
            </a:r>
            <a:r>
              <a:rPr kumimoji="0" lang="en-US" altLang="en-US" sz="1600" b="0" i="0" u="none" strike="noStrike" cap="none" normalizeH="0" baseline="0" dirty="0">
                <a:ln>
                  <a:noFill/>
                </a:ln>
                <a:solidFill>
                  <a:schemeClr val="tx1"/>
                </a:solidFill>
                <a:effectLst/>
              </a:rPr>
              <a:t> – Integrate </a:t>
            </a:r>
            <a:r>
              <a:rPr kumimoji="0" lang="en-US" altLang="en-US" sz="1600" b="1" i="0" u="none" strike="noStrike" cap="none" normalizeH="0" baseline="0" dirty="0">
                <a:ln>
                  <a:noFill/>
                </a:ln>
                <a:solidFill>
                  <a:schemeClr val="tx1"/>
                </a:solidFill>
                <a:effectLst/>
              </a:rPr>
              <a:t>machine learning algorithms</a:t>
            </a:r>
            <a:r>
              <a:rPr kumimoji="0" lang="en-US" altLang="en-US" sz="1600" b="0" i="0" u="none" strike="noStrike" cap="none" normalizeH="0" baseline="0" dirty="0">
                <a:ln>
                  <a:noFill/>
                </a:ln>
                <a:solidFill>
                  <a:schemeClr val="tx1"/>
                </a:solidFill>
                <a:effectLst/>
              </a:rPr>
              <a:t> to improve </a:t>
            </a:r>
            <a:r>
              <a:rPr kumimoji="0" lang="en-US" altLang="en-US" sz="1600" b="1" i="0" u="none" strike="noStrike" cap="none" normalizeH="0" baseline="0" dirty="0">
                <a:ln>
                  <a:noFill/>
                </a:ln>
                <a:solidFill>
                  <a:schemeClr val="tx1"/>
                </a:solidFill>
                <a:effectLst/>
              </a:rPr>
              <a:t>anomaly detection and threat prediction</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Automated Patch Recommendations</a:t>
            </a:r>
            <a:r>
              <a:rPr kumimoji="0" lang="en-US" altLang="en-US" sz="1600" b="0" i="0" u="none" strike="noStrike" cap="none" normalizeH="0" baseline="0" dirty="0">
                <a:ln>
                  <a:noFill/>
                </a:ln>
                <a:solidFill>
                  <a:schemeClr val="tx1"/>
                </a:solidFill>
                <a:effectLst/>
              </a:rPr>
              <a:t> – Provide </a:t>
            </a:r>
            <a:r>
              <a:rPr kumimoji="0" lang="en-US" altLang="en-US" sz="1600" b="1" i="0" u="none" strike="noStrike" cap="none" normalizeH="0" baseline="0" dirty="0">
                <a:ln>
                  <a:noFill/>
                </a:ln>
                <a:solidFill>
                  <a:schemeClr val="tx1"/>
                </a:solidFill>
                <a:effectLst/>
              </a:rPr>
              <a:t>real-time suggestions</a:t>
            </a:r>
            <a:r>
              <a:rPr kumimoji="0" lang="en-US" altLang="en-US" sz="1600" b="0" i="0" u="none" strike="noStrike" cap="none" normalizeH="0" baseline="0" dirty="0">
                <a:ln>
                  <a:noFill/>
                </a:ln>
                <a:solidFill>
                  <a:schemeClr val="tx1"/>
                </a:solidFill>
                <a:effectLst/>
              </a:rPr>
              <a:t> for fixing detected vulnerabilities.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Cloud Security Integration</a:t>
            </a:r>
            <a:r>
              <a:rPr kumimoji="0" lang="en-US" altLang="en-US" sz="1600" b="0" i="0" u="none" strike="noStrike" cap="none" normalizeH="0" baseline="0" dirty="0">
                <a:ln>
                  <a:noFill/>
                </a:ln>
                <a:solidFill>
                  <a:schemeClr val="tx1"/>
                </a:solidFill>
                <a:effectLst/>
              </a:rPr>
              <a:t> – Enhance scanning capabilities to assess </a:t>
            </a:r>
            <a:r>
              <a:rPr kumimoji="0" lang="en-US" altLang="en-US" sz="1600" b="1" i="0" u="none" strike="noStrike" cap="none" normalizeH="0" baseline="0" dirty="0">
                <a:ln>
                  <a:noFill/>
                </a:ln>
                <a:solidFill>
                  <a:schemeClr val="tx1"/>
                </a:solidFill>
                <a:effectLst/>
              </a:rPr>
              <a:t>AWS, Azure, and Google Cloud</a:t>
            </a:r>
            <a:r>
              <a:rPr kumimoji="0" lang="en-US" altLang="en-US" sz="1600" b="0" i="0" u="none" strike="noStrike" cap="none" normalizeH="0" baseline="0" dirty="0">
                <a:ln>
                  <a:noFill/>
                </a:ln>
                <a:solidFill>
                  <a:schemeClr val="tx1"/>
                </a:solidFill>
                <a:effectLst/>
              </a:rPr>
              <a:t> security configurations.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Real-Time Monitoring Dashboard</a:t>
            </a:r>
            <a:r>
              <a:rPr kumimoji="0" lang="en-US" altLang="en-US" sz="1600" b="0" i="0" u="none" strike="noStrike" cap="none" normalizeH="0" baseline="0" dirty="0">
                <a:ln>
                  <a:noFill/>
                </a:ln>
                <a:solidFill>
                  <a:schemeClr val="tx1"/>
                </a:solidFill>
                <a:effectLst/>
              </a:rPr>
              <a:t> – Develop a </a:t>
            </a:r>
            <a:r>
              <a:rPr kumimoji="0" lang="en-US" altLang="en-US" sz="1600" b="1" i="0" u="none" strike="noStrike" cap="none" normalizeH="0" baseline="0" dirty="0">
                <a:ln>
                  <a:noFill/>
                </a:ln>
                <a:solidFill>
                  <a:schemeClr val="tx1"/>
                </a:solidFill>
                <a:effectLst/>
              </a:rPr>
              <a:t>live security dashboard</a:t>
            </a:r>
            <a:r>
              <a:rPr kumimoji="0" lang="en-US" altLang="en-US" sz="1600" b="0" i="0" u="none" strike="noStrike" cap="none" normalizeH="0" baseline="0" dirty="0">
                <a:ln>
                  <a:noFill/>
                </a:ln>
                <a:solidFill>
                  <a:schemeClr val="tx1"/>
                </a:solidFill>
                <a:effectLst/>
              </a:rPr>
              <a:t> to track vulnerabilities and risks in real-time.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Advanced Firewall Evasion Techniques</a:t>
            </a:r>
            <a:r>
              <a:rPr kumimoji="0" lang="en-US" altLang="en-US" sz="1600" b="0" i="0" u="none" strike="noStrike" cap="none" normalizeH="0" baseline="0" dirty="0">
                <a:ln>
                  <a:noFill/>
                </a:ln>
                <a:solidFill>
                  <a:schemeClr val="tx1"/>
                </a:solidFill>
                <a:effectLst/>
              </a:rPr>
              <a:t> – Implement </a:t>
            </a:r>
            <a:r>
              <a:rPr kumimoji="0" lang="en-US" altLang="en-US" sz="1600" b="1" i="0" u="none" strike="noStrike" cap="none" normalizeH="0" baseline="0" dirty="0">
                <a:ln>
                  <a:noFill/>
                </a:ln>
                <a:solidFill>
                  <a:schemeClr val="tx1"/>
                </a:solidFill>
                <a:effectLst/>
              </a:rPr>
              <a:t>stealth scanning methods</a:t>
            </a:r>
            <a:r>
              <a:rPr kumimoji="0" lang="en-US" altLang="en-US" sz="1600" b="0" i="0" u="none" strike="noStrike" cap="none" normalizeH="0" baseline="0" dirty="0">
                <a:ln>
                  <a:noFill/>
                </a:ln>
                <a:solidFill>
                  <a:schemeClr val="tx1"/>
                </a:solidFill>
                <a:effectLst/>
              </a:rPr>
              <a:t> to bypass </a:t>
            </a:r>
            <a:r>
              <a:rPr kumimoji="0" lang="en-US" altLang="en-US" sz="1600" b="1" i="0" u="none" strike="noStrike" cap="none" normalizeH="0" baseline="0" dirty="0">
                <a:ln>
                  <a:noFill/>
                </a:ln>
                <a:solidFill>
                  <a:schemeClr val="tx1"/>
                </a:solidFill>
                <a:effectLst/>
              </a:rPr>
              <a:t>modern firewalls and intrusion prevention systems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Integration with SIEM Systems</a:t>
            </a:r>
            <a:r>
              <a:rPr kumimoji="0" lang="en-US" altLang="en-US" sz="1600" b="0" i="0" u="none" strike="noStrike" cap="none" normalizeH="0" baseline="0" dirty="0">
                <a:ln>
                  <a:noFill/>
                </a:ln>
                <a:solidFill>
                  <a:schemeClr val="tx1"/>
                </a:solidFill>
                <a:effectLst/>
              </a:rPr>
              <a:t> – Connect with </a:t>
            </a:r>
            <a:r>
              <a:rPr kumimoji="0" lang="en-US" altLang="en-US" sz="1600" b="1" i="0" u="none" strike="noStrike" cap="none" normalizeH="0" baseline="0" dirty="0">
                <a:ln>
                  <a:noFill/>
                </a:ln>
                <a:solidFill>
                  <a:schemeClr val="tx1"/>
                </a:solidFill>
                <a:effectLst/>
              </a:rPr>
              <a:t>Security Information and Event Management (SIEM)</a:t>
            </a:r>
            <a:r>
              <a:rPr kumimoji="0" lang="en-US" altLang="en-US" sz="1600" b="0" i="0" u="none" strike="noStrike" cap="none" normalizeH="0" baseline="0" dirty="0">
                <a:ln>
                  <a:noFill/>
                </a:ln>
                <a:solidFill>
                  <a:schemeClr val="tx1"/>
                </a:solidFill>
                <a:effectLst/>
              </a:rPr>
              <a:t> tools for </a:t>
            </a:r>
            <a:r>
              <a:rPr kumimoji="0" lang="en-US" altLang="en-US" sz="1600" b="1" i="0" u="none" strike="noStrike" cap="none" normalizeH="0" baseline="0" dirty="0">
                <a:ln>
                  <a:noFill/>
                </a:ln>
                <a:solidFill>
                  <a:schemeClr val="tx1"/>
                </a:solidFill>
                <a:effectLst/>
              </a:rPr>
              <a:t>centralized security analysis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Automated Penetration Testing</a:t>
            </a:r>
            <a:r>
              <a:rPr kumimoji="0" lang="en-US" altLang="en-US" sz="1600" b="0" i="0" u="none" strike="noStrike" cap="none" normalizeH="0" baseline="0" dirty="0">
                <a:ln>
                  <a:noFill/>
                </a:ln>
                <a:solidFill>
                  <a:schemeClr val="tx1"/>
                </a:solidFill>
                <a:effectLst/>
              </a:rPr>
              <a:t> – Use AI and automation to perform </a:t>
            </a:r>
            <a:r>
              <a:rPr kumimoji="0" lang="en-US" altLang="en-US" sz="1600" b="1" i="0" u="none" strike="noStrike" cap="none" normalizeH="0" baseline="0" dirty="0">
                <a:ln>
                  <a:noFill/>
                </a:ln>
                <a:solidFill>
                  <a:schemeClr val="tx1"/>
                </a:solidFill>
                <a:effectLst/>
              </a:rPr>
              <a:t>continuous penetration testing</a:t>
            </a:r>
            <a:r>
              <a:rPr kumimoji="0" lang="en-US" altLang="en-US" sz="1600" b="0" i="0" u="none" strike="noStrike" cap="none" normalizeH="0" baseline="0" dirty="0">
                <a:ln>
                  <a:noFill/>
                </a:ln>
                <a:solidFill>
                  <a:schemeClr val="tx1"/>
                </a:solidFill>
                <a:effectLst/>
              </a:rPr>
              <a:t> without manual intervention.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Multi-Platform Compatibility</a:t>
            </a:r>
            <a:r>
              <a:rPr kumimoji="0" lang="en-US" altLang="en-US" sz="1600" b="0" i="0" u="none" strike="noStrike" cap="none" normalizeH="0" baseline="0" dirty="0">
                <a:ln>
                  <a:noFill/>
                </a:ln>
                <a:solidFill>
                  <a:schemeClr val="tx1"/>
                </a:solidFill>
                <a:effectLst/>
              </a:rPr>
              <a:t> – Extend support for </a:t>
            </a:r>
            <a:r>
              <a:rPr kumimoji="0" lang="en-US" altLang="en-US" sz="1600" b="1" i="0" u="none" strike="noStrike" cap="none" normalizeH="0" baseline="0" dirty="0">
                <a:ln>
                  <a:noFill/>
                </a:ln>
                <a:solidFill>
                  <a:schemeClr val="tx1"/>
                </a:solidFill>
                <a:effectLst/>
              </a:rPr>
              <a:t>mobile applications, IoT devices, and embedded systems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Enhanced Reporting &amp; Visualization</a:t>
            </a:r>
            <a:r>
              <a:rPr kumimoji="0" lang="en-US" altLang="en-US" sz="1600" b="0" i="0" u="none" strike="noStrike" cap="none" normalizeH="0" baseline="0" dirty="0">
                <a:ln>
                  <a:noFill/>
                </a:ln>
                <a:solidFill>
                  <a:schemeClr val="tx1"/>
                </a:solidFill>
                <a:effectLst/>
              </a:rPr>
              <a:t> – Generate </a:t>
            </a:r>
            <a:r>
              <a:rPr kumimoji="0" lang="en-US" altLang="en-US" sz="1600" b="1" i="0" u="none" strike="noStrike" cap="none" normalizeH="0" baseline="0" dirty="0">
                <a:ln>
                  <a:noFill/>
                </a:ln>
                <a:solidFill>
                  <a:schemeClr val="tx1"/>
                </a:solidFill>
                <a:effectLst/>
              </a:rPr>
              <a:t>detailed vulnerability insights</a:t>
            </a:r>
            <a:r>
              <a:rPr kumimoji="0" lang="en-US" altLang="en-US" sz="1600" b="0" i="0" u="none" strike="noStrike" cap="none" normalizeH="0" baseline="0" dirty="0">
                <a:ln>
                  <a:noFill/>
                </a:ln>
                <a:solidFill>
                  <a:schemeClr val="tx1"/>
                </a:solidFill>
                <a:effectLst/>
              </a:rPr>
              <a:t> with </a:t>
            </a:r>
            <a:r>
              <a:rPr kumimoji="0" lang="en-US" altLang="en-US" sz="1600" b="1" i="0" u="none" strike="noStrike" cap="none" normalizeH="0" baseline="0" dirty="0">
                <a:ln>
                  <a:noFill/>
                </a:ln>
                <a:solidFill>
                  <a:schemeClr val="tx1"/>
                </a:solidFill>
                <a:effectLst/>
              </a:rPr>
              <a:t>interactive graphs and risk analysis reports</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Blockchain-Based Security Logging</a:t>
            </a:r>
            <a:r>
              <a:rPr kumimoji="0" lang="en-US" altLang="en-US" sz="1600" b="0" i="0" u="none" strike="noStrike" cap="none" normalizeH="0" baseline="0" dirty="0">
                <a:ln>
                  <a:noFill/>
                </a:ln>
                <a:solidFill>
                  <a:schemeClr val="tx1"/>
                </a:solidFill>
                <a:effectLst/>
              </a:rPr>
              <a:t> – Use </a:t>
            </a:r>
            <a:r>
              <a:rPr kumimoji="0" lang="en-US" altLang="en-US" sz="1600" b="1" i="0" u="none" strike="noStrike" cap="none" normalizeH="0" baseline="0" dirty="0">
                <a:ln>
                  <a:noFill/>
                </a:ln>
                <a:solidFill>
                  <a:schemeClr val="tx1"/>
                </a:solidFill>
                <a:effectLst/>
              </a:rPr>
              <a:t>blockchain technology</a:t>
            </a:r>
            <a:r>
              <a:rPr kumimoji="0" lang="en-US" altLang="en-US" sz="1600" b="0" i="0" u="none" strike="noStrike" cap="none" normalizeH="0" baseline="0" dirty="0">
                <a:ln>
                  <a:noFill/>
                </a:ln>
                <a:solidFill>
                  <a:schemeClr val="tx1"/>
                </a:solidFill>
                <a:effectLst/>
              </a:rPr>
              <a:t> for </a:t>
            </a:r>
            <a:r>
              <a:rPr kumimoji="0" lang="en-US" altLang="en-US" sz="1600" b="1" i="0" u="none" strike="noStrike" cap="none" normalizeH="0" baseline="0" dirty="0">
                <a:ln>
                  <a:noFill/>
                </a:ln>
                <a:solidFill>
                  <a:schemeClr val="tx1"/>
                </a:solidFill>
                <a:effectLst/>
              </a:rPr>
              <a:t>tamper-proof security logs and audit trails</a:t>
            </a:r>
            <a:r>
              <a:rPr kumimoji="0" lang="en-US" altLang="en-US" sz="1600" b="0" i="0" u="none" strike="noStrike" cap="none" normalizeH="0" baseline="0" dirty="0">
                <a:ln>
                  <a:noFill/>
                </a:ln>
                <a:solidFill>
                  <a:schemeClr val="tx1"/>
                </a:solidFill>
                <a:effectLst/>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References &amp; Bibliography</a:t>
            </a:r>
          </a:p>
        </p:txBody>
      </p:sp>
      <p:sp>
        <p:nvSpPr>
          <p:cNvPr id="4" name="Action Button: Home 3">
            <a:hlinkClick r:id="rId2" action="ppaction://hlinksldjump" highlightClick="1"/>
          </p:cNvPr>
          <p:cNvSpPr/>
          <p:nvPr/>
        </p:nvSpPr>
        <p:spPr>
          <a:xfrm>
            <a:off x="8104382" y="5733256"/>
            <a:ext cx="644082" cy="648072"/>
          </a:xfrm>
          <a:prstGeom prst="actionButtonHome">
            <a:avLst/>
          </a:prstGeom>
          <a:solidFill>
            <a:schemeClr val="accent1"/>
          </a:solidFill>
          <a:ln>
            <a:gradFill>
              <a:gsLst>
                <a:gs pos="0">
                  <a:schemeClr val="tx1"/>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1">
            <a:extLst>
              <a:ext uri="{FF2B5EF4-FFF2-40B4-BE49-F238E27FC236}">
                <a16:creationId xmlns:a16="http://schemas.microsoft.com/office/drawing/2014/main" id="{B7797E30-9633-81E1-C065-3EF1243BD95F}"/>
              </a:ext>
            </a:extLst>
          </p:cNvPr>
          <p:cNvSpPr>
            <a:spLocks noGrp="1" noChangeArrowheads="1"/>
          </p:cNvSpPr>
          <p:nvPr>
            <p:ph sz="quarter" idx="1"/>
          </p:nvPr>
        </p:nvSpPr>
        <p:spPr bwMode="auto">
          <a:xfrm>
            <a:off x="457200" y="1774918"/>
            <a:ext cx="800323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Fyodor, G. (2009).</a:t>
            </a:r>
            <a:r>
              <a:rPr kumimoji="0" lang="en-US" altLang="en-US" sz="1600" b="0" i="0" u="none" strike="noStrike" cap="none" normalizeH="0" baseline="0" dirty="0">
                <a:ln>
                  <a:noFill/>
                </a:ln>
                <a:solidFill>
                  <a:schemeClr val="tx1"/>
                </a:solidFill>
                <a:effectLst/>
              </a:rPr>
              <a:t> </a:t>
            </a:r>
            <a:r>
              <a:rPr kumimoji="0" lang="en-US" altLang="en-US" sz="1600" b="0" i="1" u="none" strike="noStrike" cap="none" normalizeH="0" baseline="0" dirty="0">
                <a:ln>
                  <a:noFill/>
                </a:ln>
                <a:solidFill>
                  <a:schemeClr val="tx1"/>
                </a:solidFill>
                <a:effectLst/>
              </a:rPr>
              <a:t>Nmap Network Scanning: The Official Nmap Project Guide to Network Discovery and Security Scanning.</a:t>
            </a:r>
            <a:r>
              <a:rPr kumimoji="0" lang="en-US" altLang="en-US" sz="1600" b="0" i="0" u="none" strike="noStrike" cap="none" normalizeH="0" baseline="0" dirty="0">
                <a:ln>
                  <a:noFill/>
                </a:ln>
                <a:solidFill>
                  <a:schemeClr val="tx1"/>
                </a:solidFill>
                <a:effectLst/>
              </a:rPr>
              <a:t> Insecure.org.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OWASP Foundation. (2023).</a:t>
            </a:r>
            <a:r>
              <a:rPr kumimoji="0" lang="en-US" altLang="en-US" sz="1600" b="0" i="0" u="none" strike="noStrike" cap="none" normalizeH="0" baseline="0" dirty="0">
                <a:ln>
                  <a:noFill/>
                </a:ln>
                <a:solidFill>
                  <a:schemeClr val="tx1"/>
                </a:solidFill>
                <a:effectLst/>
              </a:rPr>
              <a:t> </a:t>
            </a:r>
            <a:r>
              <a:rPr kumimoji="0" lang="en-US" altLang="en-US" sz="1600" b="0" i="1" u="none" strike="noStrike" cap="none" normalizeH="0" baseline="0" dirty="0">
                <a:ln>
                  <a:noFill/>
                </a:ln>
                <a:solidFill>
                  <a:schemeClr val="tx1"/>
                </a:solidFill>
                <a:effectLst/>
              </a:rPr>
              <a:t>OWASP Testing Guide v5.</a:t>
            </a:r>
            <a:r>
              <a:rPr kumimoji="0" lang="en-US" altLang="en-US" sz="1600" b="0" i="0" u="none" strike="noStrike" cap="none" normalizeH="0" baseline="0" dirty="0">
                <a:ln>
                  <a:noFill/>
                </a:ln>
                <a:solidFill>
                  <a:schemeClr val="tx1"/>
                </a:solidFill>
                <a:effectLst/>
              </a:rPr>
              <a:t> Retrieved from </a:t>
            </a:r>
            <a:r>
              <a:rPr kumimoji="0" lang="en-US" altLang="en-US" sz="1600" b="0" i="0" u="none" strike="noStrike" cap="none" normalizeH="0" baseline="0" dirty="0">
                <a:ln>
                  <a:noFill/>
                </a:ln>
                <a:solidFill>
                  <a:schemeClr val="tx1"/>
                </a:solidFill>
                <a:effectLst/>
                <a:hlinkClick r:id="rId3"/>
              </a:rPr>
              <a:t>https://owasp.org</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Subfinder Documentation. (2024).</a:t>
            </a:r>
            <a:r>
              <a:rPr kumimoji="0" lang="en-US" altLang="en-US" sz="1600" b="0" i="0" u="none" strike="noStrike" cap="none" normalizeH="0" baseline="0" dirty="0">
                <a:ln>
                  <a:noFill/>
                </a:ln>
                <a:solidFill>
                  <a:schemeClr val="tx1"/>
                </a:solidFill>
                <a:effectLst/>
              </a:rPr>
              <a:t> </a:t>
            </a:r>
            <a:r>
              <a:rPr kumimoji="0" lang="en-US" altLang="en-US" sz="1600" b="0" i="1" u="none" strike="noStrike" cap="none" normalizeH="0" baseline="0" dirty="0" err="1">
                <a:ln>
                  <a:noFill/>
                </a:ln>
                <a:solidFill>
                  <a:schemeClr val="tx1"/>
                </a:solidFill>
                <a:effectLst/>
              </a:rPr>
              <a:t>ProjectDiscovery</a:t>
            </a:r>
            <a:r>
              <a:rPr kumimoji="0" lang="en-US" altLang="en-US" sz="1600" b="0" i="1" u="none" strike="noStrike" cap="none" normalizeH="0" baseline="0" dirty="0">
                <a:ln>
                  <a:noFill/>
                </a:ln>
                <a:solidFill>
                  <a:schemeClr val="tx1"/>
                </a:solidFill>
                <a:effectLst/>
              </a:rPr>
              <a:t> Subfinder: Fast Passive Subdomain Enumeration Tool.</a:t>
            </a:r>
            <a:r>
              <a:rPr kumimoji="0" lang="en-US" altLang="en-US" sz="1600" b="0" i="0" u="none" strike="noStrike" cap="none" normalizeH="0" baseline="0" dirty="0">
                <a:ln>
                  <a:noFill/>
                </a:ln>
                <a:solidFill>
                  <a:schemeClr val="tx1"/>
                </a:solidFill>
                <a:effectLst/>
              </a:rPr>
              <a:t> Retrieved from </a:t>
            </a:r>
            <a:r>
              <a:rPr kumimoji="0" lang="en-US" altLang="en-US" sz="1600" b="0" i="0" u="none" strike="noStrike" cap="none" normalizeH="0" baseline="0" dirty="0">
                <a:ln>
                  <a:noFill/>
                </a:ln>
                <a:solidFill>
                  <a:schemeClr val="tx1"/>
                </a:solidFill>
                <a:effectLst/>
                <a:hlinkClick r:id="rId4"/>
              </a:rPr>
              <a:t>https://github.com/projectdiscovery/subfinder</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Mitre ATT&amp;CK Framework. (2023).</a:t>
            </a:r>
            <a:r>
              <a:rPr kumimoji="0" lang="en-US" altLang="en-US" sz="1600" b="0" i="0" u="none" strike="noStrike" cap="none" normalizeH="0" baseline="0" dirty="0">
                <a:ln>
                  <a:noFill/>
                </a:ln>
                <a:solidFill>
                  <a:schemeClr val="tx1"/>
                </a:solidFill>
                <a:effectLst/>
              </a:rPr>
              <a:t> </a:t>
            </a:r>
            <a:r>
              <a:rPr kumimoji="0" lang="en-US" altLang="en-US" sz="1600" b="0" i="1" u="none" strike="noStrike" cap="none" normalizeH="0" baseline="0" dirty="0">
                <a:ln>
                  <a:noFill/>
                </a:ln>
                <a:solidFill>
                  <a:schemeClr val="tx1"/>
                </a:solidFill>
                <a:effectLst/>
              </a:rPr>
              <a:t>Adversarial Tactics, Techniques &amp; Common Knowledge.</a:t>
            </a:r>
            <a:r>
              <a:rPr kumimoji="0" lang="en-US" altLang="en-US" sz="1600" b="0" i="0" u="none" strike="noStrike" cap="none" normalizeH="0" baseline="0" dirty="0">
                <a:ln>
                  <a:noFill/>
                </a:ln>
                <a:solidFill>
                  <a:schemeClr val="tx1"/>
                </a:solidFill>
                <a:effectLst/>
              </a:rPr>
              <a:t> Retrieved from https://attack.mitre.org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CVE Database. (2024).</a:t>
            </a:r>
            <a:r>
              <a:rPr kumimoji="0" lang="en-US" altLang="en-US" sz="1600" b="0" i="0" u="none" strike="noStrike" cap="none" normalizeH="0" baseline="0" dirty="0">
                <a:ln>
                  <a:noFill/>
                </a:ln>
                <a:solidFill>
                  <a:schemeClr val="tx1"/>
                </a:solidFill>
                <a:effectLst/>
              </a:rPr>
              <a:t> </a:t>
            </a:r>
            <a:r>
              <a:rPr kumimoji="0" lang="en-US" altLang="en-US" sz="1600" b="0" i="1" u="none" strike="noStrike" cap="none" normalizeH="0" baseline="0" dirty="0">
                <a:ln>
                  <a:noFill/>
                </a:ln>
                <a:solidFill>
                  <a:schemeClr val="tx1"/>
                </a:solidFill>
                <a:effectLst/>
              </a:rPr>
              <a:t>Common Vulnerabilities and Exposures (CVE) List.</a:t>
            </a:r>
            <a:r>
              <a:rPr kumimoji="0" lang="en-US" altLang="en-US" sz="1600" b="0" i="0" u="none" strike="noStrike" cap="none" normalizeH="0" baseline="0" dirty="0">
                <a:ln>
                  <a:noFill/>
                </a:ln>
                <a:solidFill>
                  <a:schemeClr val="tx1"/>
                </a:solidFill>
                <a:effectLst/>
              </a:rPr>
              <a:t> Retrieved from https://cve.mitre.org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NIST (2023).</a:t>
            </a:r>
            <a:r>
              <a:rPr kumimoji="0" lang="en-US" altLang="en-US" sz="1600" b="0" i="0" u="none" strike="noStrike" cap="none" normalizeH="0" baseline="0" dirty="0">
                <a:ln>
                  <a:noFill/>
                </a:ln>
                <a:solidFill>
                  <a:schemeClr val="tx1"/>
                </a:solidFill>
                <a:effectLst/>
              </a:rPr>
              <a:t> </a:t>
            </a:r>
            <a:r>
              <a:rPr kumimoji="0" lang="en-US" altLang="en-US" sz="1600" b="0" i="1" u="none" strike="noStrike" cap="none" normalizeH="0" baseline="0" dirty="0">
                <a:ln>
                  <a:noFill/>
                </a:ln>
                <a:solidFill>
                  <a:schemeClr val="tx1"/>
                </a:solidFill>
                <a:effectLst/>
              </a:rPr>
              <a:t>Cybersecurity Framework (CSF).</a:t>
            </a:r>
            <a:r>
              <a:rPr kumimoji="0" lang="en-US" altLang="en-US" sz="1600" b="0" i="0" u="none" strike="noStrike" cap="none" normalizeH="0" baseline="0" dirty="0">
                <a:ln>
                  <a:noFill/>
                </a:ln>
                <a:solidFill>
                  <a:schemeClr val="tx1"/>
                </a:solidFill>
                <a:effectLst/>
              </a:rPr>
              <a:t> Retrieved from </a:t>
            </a:r>
            <a:r>
              <a:rPr kumimoji="0" lang="en-US" altLang="en-US" sz="1600" b="0" i="0" u="none" strike="noStrike" cap="none" normalizeH="0" baseline="0" dirty="0">
                <a:ln>
                  <a:noFill/>
                </a:ln>
                <a:solidFill>
                  <a:schemeClr val="tx1"/>
                </a:solidFill>
                <a:effectLst/>
                <a:hlinkClick r:id="rId5"/>
              </a:rPr>
              <a:t>https://www.nist.gov/cyberframework</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Sharma, A., &amp; Kumar, R. (2022).</a:t>
            </a:r>
            <a:r>
              <a:rPr kumimoji="0" lang="en-US" altLang="en-US" sz="1600" b="0" i="0" u="none" strike="noStrike" cap="none" normalizeH="0" baseline="0" dirty="0">
                <a:ln>
                  <a:noFill/>
                </a:ln>
                <a:solidFill>
                  <a:schemeClr val="tx1"/>
                </a:solidFill>
                <a:effectLst/>
              </a:rPr>
              <a:t> </a:t>
            </a:r>
            <a:r>
              <a:rPr kumimoji="0" lang="en-US" altLang="en-US" sz="1600" b="0" i="1" u="none" strike="noStrike" cap="none" normalizeH="0" baseline="0" dirty="0">
                <a:ln>
                  <a:noFill/>
                </a:ln>
                <a:solidFill>
                  <a:schemeClr val="tx1"/>
                </a:solidFill>
                <a:effectLst/>
              </a:rPr>
              <a:t>A Comparative Study of Network Security Tools: Nmap, Wireshark, and Metasploit.</a:t>
            </a:r>
            <a:r>
              <a:rPr kumimoji="0" lang="en-US" altLang="en-US" sz="1600" b="0" i="0" u="none" strike="noStrike" cap="none" normalizeH="0" baseline="0" dirty="0">
                <a:ln>
                  <a:noFill/>
                </a:ln>
                <a:solidFill>
                  <a:schemeClr val="tx1"/>
                </a:solidFill>
                <a:effectLst/>
              </a:rPr>
              <a:t> International Journal of Computer Science &amp;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Saha, R., &amp; Patel, V. (2021).</a:t>
            </a:r>
            <a:r>
              <a:rPr kumimoji="0" lang="en-US" altLang="en-US" sz="1600" b="0" i="0" u="none" strike="noStrike" cap="none" normalizeH="0" baseline="0" dirty="0">
                <a:ln>
                  <a:noFill/>
                </a:ln>
                <a:solidFill>
                  <a:schemeClr val="tx1"/>
                </a:solidFill>
                <a:effectLst/>
              </a:rPr>
              <a:t> </a:t>
            </a:r>
            <a:r>
              <a:rPr kumimoji="0" lang="en-US" altLang="en-US" sz="1600" b="0" i="1" u="none" strike="noStrike" cap="none" normalizeH="0" baseline="0" dirty="0">
                <a:ln>
                  <a:noFill/>
                </a:ln>
                <a:solidFill>
                  <a:schemeClr val="tx1"/>
                </a:solidFill>
                <a:effectLst/>
              </a:rPr>
              <a:t>Penetration Testing &amp; Ethical Hacking: Tools and Techniques.</a:t>
            </a:r>
            <a:r>
              <a:rPr kumimoji="0" lang="en-US" altLang="en-US" sz="1600" b="0" i="0" u="none" strike="noStrike" cap="none" normalizeH="0" baseline="0" dirty="0">
                <a:ln>
                  <a:noFill/>
                </a:ln>
                <a:solidFill>
                  <a:schemeClr val="tx1"/>
                </a:solidFill>
                <a:effectLst/>
              </a:rPr>
              <a:t> Cybersecurity Journal.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3200400"/>
            <a:ext cx="8229600" cy="1143000"/>
          </a:xfrm>
        </p:spPr>
        <p:txBody>
          <a:bodyPr/>
          <a:lstStyle/>
          <a:p>
            <a:r>
              <a:rPr lang="en-US" dirty="0"/>
              <a:t>Thank you !!!</a:t>
            </a:r>
          </a:p>
        </p:txBody>
      </p:sp>
      <p:sp>
        <p:nvSpPr>
          <p:cNvPr id="2" name="Content Placeholder 1"/>
          <p:cNvSpPr>
            <a:spLocks noGrp="1"/>
          </p:cNvSpPr>
          <p:nvPr>
            <p:ph sz="quarter" idx="1"/>
          </p:nvPr>
        </p:nvSpPr>
        <p:spPr/>
        <p:txBody>
          <a:bodyPr/>
          <a:lstStyle/>
          <a:p>
            <a:pPr marL="0" indent="0">
              <a:buNone/>
            </a:pPr>
            <a:r>
              <a:rPr lang="en-US" dirty="0"/>
              <a:t>    </a:t>
            </a:r>
          </a:p>
        </p:txBody>
      </p:sp>
      <p:sp>
        <p:nvSpPr>
          <p:cNvPr id="4" name="Action Button: Home 3">
            <a:hlinkClick r:id="rId2" action="ppaction://hlinksldjump" highlightClick="1"/>
          </p:cNvPr>
          <p:cNvSpPr/>
          <p:nvPr/>
        </p:nvSpPr>
        <p:spPr>
          <a:xfrm>
            <a:off x="8104382" y="5733256"/>
            <a:ext cx="644082" cy="648072"/>
          </a:xfrm>
          <a:prstGeom prst="actionButtonHome">
            <a:avLst/>
          </a:prstGeom>
          <a:solidFill>
            <a:schemeClr val="accent1"/>
          </a:solidFill>
          <a:ln>
            <a:gradFill>
              <a:gsLst>
                <a:gs pos="0">
                  <a:schemeClr val="tx1"/>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173</TotalTime>
  <Words>1698</Words>
  <Application>Microsoft Office PowerPoint</Application>
  <PresentationFormat>On-screen Show (4:3)</PresentationFormat>
  <Paragraphs>157</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Century Schoolbook</vt:lpstr>
      <vt:lpstr>Symbol</vt:lpstr>
      <vt:lpstr>Wingdings</vt:lpstr>
      <vt:lpstr>Wingdings 2</vt:lpstr>
      <vt:lpstr>Oriel</vt:lpstr>
      <vt:lpstr>HUNTBOX</vt:lpstr>
      <vt:lpstr>INDEX</vt:lpstr>
      <vt:lpstr>Abstract </vt:lpstr>
      <vt:lpstr>Comparison of new system with existing system</vt:lpstr>
      <vt:lpstr> </vt:lpstr>
      <vt:lpstr>Technology and HW, SW Requirement Specification</vt:lpstr>
      <vt:lpstr> </vt:lpstr>
      <vt:lpstr>Modules and its short description</vt:lpstr>
      <vt:lpstr>Features and its short description</vt:lpstr>
      <vt:lpstr>Users and their role description</vt:lpstr>
      <vt:lpstr>Limitations</vt:lpstr>
      <vt:lpstr>Future Enhancement</vt:lpstr>
      <vt:lpstr>References &amp; Bibliography</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project</dc:title>
  <dc:creator>parul</dc:creator>
  <cp:lastModifiedBy>Kali Bhai</cp:lastModifiedBy>
  <cp:revision>72</cp:revision>
  <dcterms:created xsi:type="dcterms:W3CDTF">2017-10-03T10:36:15Z</dcterms:created>
  <dcterms:modified xsi:type="dcterms:W3CDTF">2025-11-22T04:56:20Z</dcterms:modified>
</cp:coreProperties>
</file>