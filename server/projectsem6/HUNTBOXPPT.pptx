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16"/>
  </p:notesMasterIdLst>
  <p:sldIdLst>
    <p:sldId id="256" r:id="rId2"/>
    <p:sldId id="257" r:id="rId3"/>
    <p:sldId id="262" r:id="rId4"/>
    <p:sldId id="263" r:id="rId5"/>
    <p:sldId id="264" r:id="rId6"/>
    <p:sldId id="265" r:id="rId7"/>
    <p:sldId id="266" r:id="rId8"/>
    <p:sldId id="267" r:id="rId9"/>
    <p:sldId id="268" r:id="rId10"/>
    <p:sldId id="269" r:id="rId11"/>
    <p:sldId id="270" r:id="rId12"/>
    <p:sldId id="271" r:id="rId13"/>
    <p:sldId id="272"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113" d="100"/>
          <a:sy n="113" d="100"/>
        </p:scale>
        <p:origin x="147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EC80C4-677A-4F54-AC67-C50708C2FC31}" type="datetimeFigureOut">
              <a:rPr lang="en-US" smtClean="0"/>
              <a:pPr/>
              <a:t>7/18/2025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7A0F62-844B-4132-81E1-2E689FBBFC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67A0F62-844B-4132-81E1-2E689FBBFCC9}"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C36D0-CEA1-40E4-AD9C-CCC90B896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34ED2-F220-7E41-F546-293D8688B9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2DC98-735D-C590-56D3-0160324EE9AD}"/>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CE8D3513-3A45-22DF-13E5-ADF9213745E9}"/>
              </a:ext>
            </a:extLst>
          </p:cNvPr>
          <p:cNvSpPr>
            <a:spLocks noGrp="1"/>
          </p:cNvSpPr>
          <p:nvPr>
            <p:ph type="sldNum" sz="quarter" idx="10"/>
          </p:nvPr>
        </p:nvSpPr>
        <p:spPr/>
        <p:txBody>
          <a:bodyPr/>
          <a:lstStyle/>
          <a:p>
            <a:fld id="{E67A0F62-844B-4132-81E1-2E689FBBFCC9}" type="slidenum">
              <a:rPr lang="en-US" smtClean="0"/>
              <a:pPr/>
              <a:t>3</a:t>
            </a:fld>
            <a:endParaRPr lang="en-US"/>
          </a:p>
        </p:txBody>
      </p:sp>
    </p:spTree>
    <p:extLst>
      <p:ext uri="{BB962C8B-B14F-4D97-AF65-F5344CB8AC3E}">
        <p14:creationId xmlns:p14="http://schemas.microsoft.com/office/powerpoint/2010/main" val="290695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C353B-F3FC-D5E0-EB97-E8FD9161E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F156E-85FD-9360-146E-A82C51D67C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AE6B1-7A06-AB50-21E9-5C4A3B4DCCD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F08C26FF-EB9B-BEF0-48C1-AD51403E70BD}"/>
              </a:ext>
            </a:extLst>
          </p:cNvPr>
          <p:cNvSpPr>
            <a:spLocks noGrp="1"/>
          </p:cNvSpPr>
          <p:nvPr>
            <p:ph type="sldNum" sz="quarter" idx="10"/>
          </p:nvPr>
        </p:nvSpPr>
        <p:spPr/>
        <p:txBody>
          <a:bodyPr/>
          <a:lstStyle/>
          <a:p>
            <a:fld id="{E67A0F62-844B-4132-81E1-2E689FBBFCC9}" type="slidenum">
              <a:rPr lang="en-US" smtClean="0"/>
              <a:pPr/>
              <a:t>4</a:t>
            </a:fld>
            <a:endParaRPr lang="en-US"/>
          </a:p>
        </p:txBody>
      </p:sp>
    </p:spTree>
    <p:extLst>
      <p:ext uri="{BB962C8B-B14F-4D97-AF65-F5344CB8AC3E}">
        <p14:creationId xmlns:p14="http://schemas.microsoft.com/office/powerpoint/2010/main" val="3054328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301A3-27FB-9736-4D5F-98AF9D980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B2A3-A0C8-BAF5-DCDF-FBC621261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5B91F-5AC4-9771-8184-4D9E4DF260B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55F1A285-29A2-A62C-16BA-8BA6F7C17B3A}"/>
              </a:ext>
            </a:extLst>
          </p:cNvPr>
          <p:cNvSpPr>
            <a:spLocks noGrp="1"/>
          </p:cNvSpPr>
          <p:nvPr>
            <p:ph type="sldNum" sz="quarter" idx="10"/>
          </p:nvPr>
        </p:nvSpPr>
        <p:spPr/>
        <p:txBody>
          <a:bodyPr/>
          <a:lstStyle/>
          <a:p>
            <a:fld id="{E67A0F62-844B-4132-81E1-2E689FBBFCC9}" type="slidenum">
              <a:rPr lang="en-US" smtClean="0"/>
              <a:pPr/>
              <a:t>5</a:t>
            </a:fld>
            <a:endParaRPr lang="en-US"/>
          </a:p>
        </p:txBody>
      </p:sp>
    </p:spTree>
    <p:extLst>
      <p:ext uri="{BB962C8B-B14F-4D97-AF65-F5344CB8AC3E}">
        <p14:creationId xmlns:p14="http://schemas.microsoft.com/office/powerpoint/2010/main" val="1621196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6E2BD-A8EF-6621-12EF-1FA3A76A2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2B227-2594-26E1-5594-0544C1683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82585-02D2-2383-2869-520AD0C5ADB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FD561E8B-BB4F-20C7-B4A7-9D932D52C646}"/>
              </a:ext>
            </a:extLst>
          </p:cNvPr>
          <p:cNvSpPr>
            <a:spLocks noGrp="1"/>
          </p:cNvSpPr>
          <p:nvPr>
            <p:ph type="sldNum" sz="quarter" idx="10"/>
          </p:nvPr>
        </p:nvSpPr>
        <p:spPr/>
        <p:txBody>
          <a:bodyPr/>
          <a:lstStyle/>
          <a:p>
            <a:fld id="{E67A0F62-844B-4132-81E1-2E689FBBFCC9}" type="slidenum">
              <a:rPr lang="en-US" smtClean="0"/>
              <a:pPr/>
              <a:t>6</a:t>
            </a:fld>
            <a:endParaRPr lang="en-US"/>
          </a:p>
        </p:txBody>
      </p:sp>
    </p:spTree>
    <p:extLst>
      <p:ext uri="{BB962C8B-B14F-4D97-AF65-F5344CB8AC3E}">
        <p14:creationId xmlns:p14="http://schemas.microsoft.com/office/powerpoint/2010/main" val="4277993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ED89D-393E-69AC-299A-10A1267A9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71652-8F4E-1F35-0EB9-FB53F3E67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9A8AE-656E-E805-45DC-6B88638AD9B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0AAF5FB3-693C-E7AC-615F-4C9C3A76B14D}"/>
              </a:ext>
            </a:extLst>
          </p:cNvPr>
          <p:cNvSpPr>
            <a:spLocks noGrp="1"/>
          </p:cNvSpPr>
          <p:nvPr>
            <p:ph type="sldNum" sz="quarter" idx="10"/>
          </p:nvPr>
        </p:nvSpPr>
        <p:spPr/>
        <p:txBody>
          <a:bodyPr/>
          <a:lstStyle/>
          <a:p>
            <a:fld id="{E67A0F62-844B-4132-81E1-2E689FBBFCC9}" type="slidenum">
              <a:rPr lang="en-US" smtClean="0"/>
              <a:pPr/>
              <a:t>7</a:t>
            </a:fld>
            <a:endParaRPr lang="en-US"/>
          </a:p>
        </p:txBody>
      </p:sp>
    </p:spTree>
    <p:extLst>
      <p:ext uri="{BB962C8B-B14F-4D97-AF65-F5344CB8AC3E}">
        <p14:creationId xmlns:p14="http://schemas.microsoft.com/office/powerpoint/2010/main" val="1581397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50DD5-0923-9BFC-E07E-E8938E0BB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B44F4-D6AF-A7BE-16E0-F9AC57458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A43A3-8235-5062-DFA7-7DE18F2C6E2D}"/>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7A1684A-14F7-9910-99D4-2EB6EAEEC17E}"/>
              </a:ext>
            </a:extLst>
          </p:cNvPr>
          <p:cNvSpPr>
            <a:spLocks noGrp="1"/>
          </p:cNvSpPr>
          <p:nvPr>
            <p:ph type="sldNum" sz="quarter" idx="10"/>
          </p:nvPr>
        </p:nvSpPr>
        <p:spPr/>
        <p:txBody>
          <a:bodyPr/>
          <a:lstStyle/>
          <a:p>
            <a:fld id="{E67A0F62-844B-4132-81E1-2E689FBBFCC9}" type="slidenum">
              <a:rPr lang="en-US" smtClean="0"/>
              <a:pPr/>
              <a:t>8</a:t>
            </a:fld>
            <a:endParaRPr lang="en-US"/>
          </a:p>
        </p:txBody>
      </p:sp>
    </p:spTree>
    <p:extLst>
      <p:ext uri="{BB962C8B-B14F-4D97-AF65-F5344CB8AC3E}">
        <p14:creationId xmlns:p14="http://schemas.microsoft.com/office/powerpoint/2010/main" val="3740550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5DC0-3F9F-20C0-172D-37E5CFD66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416FE0-5A54-9401-7588-741531A90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9BEDF-E7B3-0FDD-0E1A-7ACC75237A77}"/>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DA6B940-D357-306F-8D84-C2BCC228EA0F}"/>
              </a:ext>
            </a:extLst>
          </p:cNvPr>
          <p:cNvSpPr>
            <a:spLocks noGrp="1"/>
          </p:cNvSpPr>
          <p:nvPr>
            <p:ph type="sldNum" sz="quarter" idx="10"/>
          </p:nvPr>
        </p:nvSpPr>
        <p:spPr/>
        <p:txBody>
          <a:bodyPr/>
          <a:lstStyle/>
          <a:p>
            <a:fld id="{E67A0F62-844B-4132-81E1-2E689FBBFCC9}" type="slidenum">
              <a:rPr lang="en-US" smtClean="0"/>
              <a:pPr/>
              <a:t>9</a:t>
            </a:fld>
            <a:endParaRPr lang="en-US"/>
          </a:p>
        </p:txBody>
      </p:sp>
    </p:spTree>
    <p:extLst>
      <p:ext uri="{BB962C8B-B14F-4D97-AF65-F5344CB8AC3E}">
        <p14:creationId xmlns:p14="http://schemas.microsoft.com/office/powerpoint/2010/main" val="1061999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BF9C-C682-2403-E935-7880F19EE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4A6C9-D9C3-BC5D-AB10-D662E730F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534A2-5738-8F79-AB3B-8835474333D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9510DA8-46B1-DF39-CE83-F13D62341CC2}"/>
              </a:ext>
            </a:extLst>
          </p:cNvPr>
          <p:cNvSpPr>
            <a:spLocks noGrp="1"/>
          </p:cNvSpPr>
          <p:nvPr>
            <p:ph type="sldNum" sz="quarter" idx="10"/>
          </p:nvPr>
        </p:nvSpPr>
        <p:spPr/>
        <p:txBody>
          <a:bodyPr/>
          <a:lstStyle/>
          <a:p>
            <a:fld id="{E67A0F62-844B-4132-81E1-2E689FBBFCC9}" type="slidenum">
              <a:rPr lang="en-US" smtClean="0"/>
              <a:pPr/>
              <a:t>10</a:t>
            </a:fld>
            <a:endParaRPr lang="en-US"/>
          </a:p>
        </p:txBody>
      </p:sp>
    </p:spTree>
    <p:extLst>
      <p:ext uri="{BB962C8B-B14F-4D97-AF65-F5344CB8AC3E}">
        <p14:creationId xmlns:p14="http://schemas.microsoft.com/office/powerpoint/2010/main" val="2105916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FA66A-3023-AD15-441E-181C6EC40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EE116-F3D5-39F8-8B0D-4CC6B210D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A7EDB-5003-B8AA-908E-C6261E460E25}"/>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F69FA0E5-ECEB-0A99-28EF-8B290864928D}"/>
              </a:ext>
            </a:extLst>
          </p:cNvPr>
          <p:cNvSpPr>
            <a:spLocks noGrp="1"/>
          </p:cNvSpPr>
          <p:nvPr>
            <p:ph type="sldNum" sz="quarter" idx="10"/>
          </p:nvPr>
        </p:nvSpPr>
        <p:spPr/>
        <p:txBody>
          <a:bodyPr/>
          <a:lstStyle/>
          <a:p>
            <a:fld id="{E67A0F62-844B-4132-81E1-2E689FBBFCC9}" type="slidenum">
              <a:rPr lang="en-US" smtClean="0"/>
              <a:pPr/>
              <a:t>11</a:t>
            </a:fld>
            <a:endParaRPr lang="en-US"/>
          </a:p>
        </p:txBody>
      </p:sp>
    </p:spTree>
    <p:extLst>
      <p:ext uri="{BB962C8B-B14F-4D97-AF65-F5344CB8AC3E}">
        <p14:creationId xmlns:p14="http://schemas.microsoft.com/office/powerpoint/2010/main" val="3815355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35519-559E-2EAA-4C8E-16CE16816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B62EF-9DBA-377B-F17B-EA7D50886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0DEE-6F9C-FAB6-508E-57C64E843DA7}"/>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9A8A01D-788E-E255-73DC-BC4093BAF6F3}"/>
              </a:ext>
            </a:extLst>
          </p:cNvPr>
          <p:cNvSpPr>
            <a:spLocks noGrp="1"/>
          </p:cNvSpPr>
          <p:nvPr>
            <p:ph type="sldNum" sz="quarter" idx="10"/>
          </p:nvPr>
        </p:nvSpPr>
        <p:spPr/>
        <p:txBody>
          <a:bodyPr/>
          <a:lstStyle/>
          <a:p>
            <a:fld id="{E67A0F62-844B-4132-81E1-2E689FBBFCC9}" type="slidenum">
              <a:rPr lang="en-US" smtClean="0"/>
              <a:pPr/>
              <a:t>12</a:t>
            </a:fld>
            <a:endParaRPr lang="en-US"/>
          </a:p>
        </p:txBody>
      </p:sp>
    </p:spTree>
    <p:extLst>
      <p:ext uri="{BB962C8B-B14F-4D97-AF65-F5344CB8AC3E}">
        <p14:creationId xmlns:p14="http://schemas.microsoft.com/office/powerpoint/2010/main" val="3321268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363C5-F551-4EDE-260C-7B3A3FA53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57D70-33DF-0EAA-D378-3D4548C76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8BC38-BF55-BBB4-9609-3F65EF1705A2}"/>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8A2229F-B703-E859-C054-D0D449DCD074}"/>
              </a:ext>
            </a:extLst>
          </p:cNvPr>
          <p:cNvSpPr>
            <a:spLocks noGrp="1"/>
          </p:cNvSpPr>
          <p:nvPr>
            <p:ph type="sldNum" sz="quarter" idx="10"/>
          </p:nvPr>
        </p:nvSpPr>
        <p:spPr/>
        <p:txBody>
          <a:bodyPr/>
          <a:lstStyle/>
          <a:p>
            <a:fld id="{E67A0F62-844B-4132-81E1-2E689FBBFCC9}" type="slidenum">
              <a:rPr lang="en-US" smtClean="0"/>
              <a:pPr/>
              <a:t>13</a:t>
            </a:fld>
            <a:endParaRPr lang="en-US"/>
          </a:p>
        </p:txBody>
      </p:sp>
    </p:spTree>
    <p:extLst>
      <p:ext uri="{BB962C8B-B14F-4D97-AF65-F5344CB8AC3E}">
        <p14:creationId xmlns:p14="http://schemas.microsoft.com/office/powerpoint/2010/main" val="3874001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0F6E-DEC4-9C5E-4BBD-E619B3806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C8034-F11E-EAA0-946C-D1D7F5B70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D966E-AAE2-5483-D56E-49D9F17E8791}"/>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4008F44-3D54-B5F5-F449-E4870978DF8A}"/>
              </a:ext>
            </a:extLst>
          </p:cNvPr>
          <p:cNvSpPr>
            <a:spLocks noGrp="1"/>
          </p:cNvSpPr>
          <p:nvPr>
            <p:ph type="sldNum" sz="quarter" idx="10"/>
          </p:nvPr>
        </p:nvSpPr>
        <p:spPr/>
        <p:txBody>
          <a:bodyPr/>
          <a:lstStyle/>
          <a:p>
            <a:fld id="{E67A0F62-844B-4132-81E1-2E689FBBFCC9}" type="slidenum">
              <a:rPr lang="en-US" smtClean="0"/>
              <a:pPr/>
              <a:t>14</a:t>
            </a:fld>
            <a:endParaRPr lang="en-US"/>
          </a:p>
        </p:txBody>
      </p:sp>
    </p:spTree>
    <p:extLst>
      <p:ext uri="{BB962C8B-B14F-4D97-AF65-F5344CB8AC3E}">
        <p14:creationId xmlns:p14="http://schemas.microsoft.com/office/powerpoint/2010/main" val="22287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9E50DC-0CA8-4B17-AED4-5BE96EF64DE9}" type="datetime1">
              <a:rPr lang="en-US" smtClean="0"/>
              <a:pPr/>
              <a:t>7/18/2025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334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4259E7-CD74-4F49-A1C0-1C460F426EA6}" type="datetime1">
              <a:rPr lang="en-US" smtClean="0"/>
              <a:pPr/>
              <a:t>7/18/2025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3260487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2C75A-85E4-4AF0-9F73-094BDF403026}" type="datetime1">
              <a:rPr lang="en-US" smtClean="0"/>
              <a:pPr/>
              <a:t>7/18/2025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39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3B769E-DB72-43CE-BB64-DCC135C407C5}" type="datetime1">
              <a:rPr lang="en-US" smtClean="0"/>
              <a:pPr/>
              <a:t>7/18/2025</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246183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BCA003-32EA-46B7-9B72-DF506990628E}" type="datetime1">
              <a:rPr lang="en-US" smtClean="0"/>
              <a:pPr/>
              <a:t>7/18/2025</a:t>
            </a:fld>
            <a:endParaRPr lang="en-US"/>
          </a:p>
        </p:txBody>
      </p:sp>
      <p:sp>
        <p:nvSpPr>
          <p:cNvPr id="8" name="Footer Placeholder 7"/>
          <p:cNvSpPr>
            <a:spLocks noGrp="1"/>
          </p:cNvSpPr>
          <p:nvPr>
            <p:ph type="ftr" sz="quarter" idx="11"/>
          </p:nvPr>
        </p:nvSpPr>
        <p:spPr/>
        <p:txBody>
          <a:bodyPr/>
          <a:lstStyle/>
          <a:p>
            <a:r>
              <a:rPr lang="en-US"/>
              <a:t>Project Title</a:t>
            </a:r>
          </a:p>
        </p:txBody>
      </p:sp>
      <p:sp>
        <p:nvSpPr>
          <p:cNvPr id="9" name="Slide Number Placeholder 8"/>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121464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E56257-F15D-45F7-BB6A-FB75C78CDF53}" type="datetime1">
              <a:rPr lang="en-US" smtClean="0"/>
              <a:pPr/>
              <a:t>7/18/2025</a:t>
            </a:fld>
            <a:endParaRPr lang="en-US"/>
          </a:p>
        </p:txBody>
      </p:sp>
      <p:sp>
        <p:nvSpPr>
          <p:cNvPr id="4" name="Footer Placeholder 3"/>
          <p:cNvSpPr>
            <a:spLocks noGrp="1"/>
          </p:cNvSpPr>
          <p:nvPr>
            <p:ph type="ftr" sz="quarter" idx="11"/>
          </p:nvPr>
        </p:nvSpPr>
        <p:spPr/>
        <p:txBody>
          <a:bodyPr/>
          <a:lstStyle/>
          <a:p>
            <a:r>
              <a:rPr lang="en-US"/>
              <a:t>Project Title</a:t>
            </a:r>
          </a:p>
        </p:txBody>
      </p:sp>
      <p:sp>
        <p:nvSpPr>
          <p:cNvPr id="5" name="Slide Number Placeholder 4"/>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392330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553FA86-0B43-4FF4-8401-D568254BBC83}" type="datetime1">
              <a:rPr lang="en-US" smtClean="0"/>
              <a:pPr/>
              <a:t>7/18/2025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Project Title</a:t>
            </a:r>
          </a:p>
        </p:txBody>
      </p:sp>
      <p:sp>
        <p:nvSpPr>
          <p:cNvPr id="9" name="Slide Number Placeholder 8"/>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17799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CD2F42AB-458A-4ED0-9164-B8DDD515C73A}" type="datetime1">
              <a:rPr lang="en-US" smtClean="0"/>
              <a:pPr/>
              <a:t>7/18/2025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5D92F5-C6BD-4770-B93B-CCC7110BADD0}" type="slidenum">
              <a:rPr lang="en-US" smtClean="0"/>
              <a:pPr/>
              <a:t>‹#›</a:t>
            </a:fld>
            <a:endParaRPr lang="en-US"/>
          </a:p>
        </p:txBody>
      </p:sp>
    </p:spTree>
    <p:extLst>
      <p:ext uri="{BB962C8B-B14F-4D97-AF65-F5344CB8AC3E}">
        <p14:creationId xmlns:p14="http://schemas.microsoft.com/office/powerpoint/2010/main" val="2051872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A897CF-0FE6-42B4-9886-F080B30FE61B}" type="datetime1">
              <a:rPr lang="en-US" smtClean="0"/>
              <a:pPr/>
              <a:t>7/18/2025</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008727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B71F05-1047-48E0-8CCC-98FB124029A8}" type="datetime1">
              <a:rPr lang="en-US" smtClean="0"/>
              <a:pPr/>
              <a:t>7/18/2025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2997399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02F7F-1A74-4A20-B7F2-EC66702A597B}" type="datetime1">
              <a:rPr lang="en-US" smtClean="0"/>
              <a:pPr/>
              <a:t>7/18/2025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096879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8BA09CDE-73CD-4DAC-A912-1A1C549792AB}" type="datetime1">
              <a:rPr lang="en-US" smtClean="0"/>
              <a:pPr/>
              <a:t>7/18/2025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Project Title</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615D92F5-C6BD-4770-B93B-CCC7110BADD0}"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3655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231776" y="286786"/>
            <a:ext cx="2779058" cy="785818"/>
          </a:xfrm>
        </p:spPr>
        <p:txBody>
          <a:bodyPr>
            <a:noAutofit/>
          </a:bodyPr>
          <a:lstStyle/>
          <a:p>
            <a:pPr algn="ctr"/>
            <a:r>
              <a:rPr lang="en-US" sz="3600" b="1" dirty="0">
                <a:solidFill>
                  <a:srgbClr val="0070C0"/>
                </a:solidFill>
                <a:latin typeface="Cambria" pitchFamily="18" charset="0"/>
                <a:cs typeface="BrowalliaUPC" pitchFamily="34" charset="-34"/>
              </a:rPr>
              <a:t>HUNT BOX</a:t>
            </a:r>
          </a:p>
        </p:txBody>
      </p:sp>
      <p:sp>
        <p:nvSpPr>
          <p:cNvPr id="9" name="Rectangle 5"/>
          <p:cNvSpPr>
            <a:spLocks noChangeArrowheads="1"/>
          </p:cNvSpPr>
          <p:nvPr/>
        </p:nvSpPr>
        <p:spPr bwMode="auto">
          <a:xfrm>
            <a:off x="3850343" y="1938802"/>
            <a:ext cx="4706470" cy="104644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a:solidFill>
                  <a:srgbClr val="0070C0"/>
                </a:solidFill>
                <a:latin typeface="Cambria" pitchFamily="18" charset="0"/>
                <a:ea typeface="Calibri" pitchFamily="34" charset="0"/>
                <a:cs typeface="Microsoft Sans Serif" pitchFamily="34" charset="0"/>
              </a:rPr>
              <a:t>INTERNAL GUIDE</a:t>
            </a:r>
          </a:p>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a:solidFill>
                  <a:srgbClr val="0070C0"/>
                </a:solidFill>
                <a:latin typeface="Cambria" pitchFamily="18" charset="0"/>
                <a:ea typeface="Calibri" pitchFamily="34" charset="0"/>
                <a:cs typeface="Microsoft Sans Serif" pitchFamily="34" charset="0"/>
              </a:rPr>
              <a:t>Prof. Tanmay Shah</a:t>
            </a:r>
          </a:p>
          <a:p>
            <a:pPr marL="0" marR="0" lvl="0" indent="0" algn="ctr" defTabSz="914400" rtl="0" eaLnBrk="1" fontAlgn="base" latinLnBrk="0" hangingPunct="1">
              <a:lnSpc>
                <a:spcPct val="100000"/>
              </a:lnSpc>
              <a:spcBef>
                <a:spcPct val="0"/>
              </a:spcBef>
              <a:spcAft>
                <a:spcPct val="0"/>
              </a:spcAft>
              <a:buClrTx/>
              <a:buSzTx/>
              <a:buFontTx/>
              <a:buNone/>
              <a:tabLst/>
            </a:pPr>
            <a:endParaRPr lang="en-US" sz="2200" b="1" dirty="0">
              <a:solidFill>
                <a:srgbClr val="0070C0"/>
              </a:solidFill>
              <a:latin typeface="Cambria" pitchFamily="18" charset="0"/>
              <a:ea typeface="Calibri" pitchFamily="34" charset="0"/>
              <a:cs typeface="Microsoft Sans Serif" pitchFamily="34" charset="0"/>
            </a:endParaRPr>
          </a:p>
        </p:txBody>
      </p:sp>
      <p:sp>
        <p:nvSpPr>
          <p:cNvPr id="10" name="TextBox 9"/>
          <p:cNvSpPr txBox="1"/>
          <p:nvPr/>
        </p:nvSpPr>
        <p:spPr>
          <a:xfrm>
            <a:off x="3281082" y="4635327"/>
            <a:ext cx="5459505" cy="1384995"/>
          </a:xfrm>
          <a:prstGeom prst="rect">
            <a:avLst/>
          </a:prstGeom>
          <a:noFill/>
        </p:spPr>
        <p:txBody>
          <a:bodyPr wrap="square" rtlCol="0">
            <a:spAutoFit/>
          </a:bodyPr>
          <a:lstStyle/>
          <a:p>
            <a:r>
              <a:rPr lang="en-US" b="1" dirty="0">
                <a:latin typeface="Cambria" pitchFamily="18" charset="0"/>
              </a:rPr>
              <a:t>Submitted To:</a:t>
            </a:r>
            <a:endParaRPr lang="en-US" dirty="0">
              <a:latin typeface="Cambria" pitchFamily="18" charset="0"/>
            </a:endParaRPr>
          </a:p>
          <a:p>
            <a:r>
              <a:rPr lang="en-US" sz="2200" b="1" dirty="0">
                <a:solidFill>
                  <a:schemeClr val="tx1">
                    <a:lumMod val="95000"/>
                    <a:lumOff val="5000"/>
                  </a:schemeClr>
                </a:solidFill>
                <a:latin typeface="Cambria" pitchFamily="18" charset="0"/>
              </a:rPr>
              <a:t>Parul Institute Of Computer Application </a:t>
            </a:r>
          </a:p>
          <a:p>
            <a:r>
              <a:rPr lang="en-US" sz="2200" b="1" dirty="0">
                <a:solidFill>
                  <a:schemeClr val="tx1">
                    <a:lumMod val="95000"/>
                    <a:lumOff val="5000"/>
                  </a:schemeClr>
                </a:solidFill>
                <a:latin typeface="Cambria" pitchFamily="18" charset="0"/>
              </a:rPr>
              <a:t>Faculty of IT &amp; Computer Science,</a:t>
            </a:r>
          </a:p>
          <a:p>
            <a:r>
              <a:rPr lang="en-US" sz="2200" b="1" dirty="0">
                <a:solidFill>
                  <a:schemeClr val="tx1">
                    <a:lumMod val="95000"/>
                    <a:lumOff val="5000"/>
                  </a:schemeClr>
                </a:solidFill>
                <a:latin typeface="Cambria" pitchFamily="18" charset="0"/>
              </a:rPr>
              <a:t>PARUL University</a:t>
            </a:r>
            <a:endParaRPr lang="en-US" sz="2200" b="1" dirty="0">
              <a:solidFill>
                <a:schemeClr val="accent4">
                  <a:lumMod val="75000"/>
                </a:schemeClr>
              </a:solidFill>
              <a:latin typeface="Cambria" pitchFamily="18" charset="0"/>
            </a:endParaRPr>
          </a:p>
        </p:txBody>
      </p:sp>
      <p:pic>
        <p:nvPicPr>
          <p:cNvPr id="12" name="Picture 11" descr="C:\Users\HP\Desktop\pu.jpg"/>
          <p:cNvPicPr/>
          <p:nvPr/>
        </p:nvPicPr>
        <p:blipFill>
          <a:blip r:embed="rId2" cstate="print"/>
          <a:srcRect/>
          <a:stretch>
            <a:fillRect/>
          </a:stretch>
        </p:blipFill>
        <p:spPr bwMode="auto">
          <a:xfrm>
            <a:off x="895924" y="4554071"/>
            <a:ext cx="2447911" cy="1577788"/>
          </a:xfrm>
          <a:prstGeom prst="rect">
            <a:avLst/>
          </a:prstGeom>
          <a:noFill/>
          <a:ln w="9525">
            <a:noFill/>
            <a:miter lim="800000"/>
            <a:headEnd/>
            <a:tailEnd/>
          </a:ln>
        </p:spPr>
      </p:pic>
      <p:sp>
        <p:nvSpPr>
          <p:cNvPr id="13" name="Rectangle 1"/>
          <p:cNvSpPr>
            <a:spLocks noChangeArrowheads="1"/>
          </p:cNvSpPr>
          <p:nvPr/>
        </p:nvSpPr>
        <p:spPr bwMode="auto">
          <a:xfrm>
            <a:off x="1671421" y="2751027"/>
            <a:ext cx="5459505" cy="23698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ctr" defTabSz="914400" rtl="0" eaLnBrk="1" fontAlgn="base" latinLnBrk="0" hangingPunct="1">
              <a:spcBef>
                <a:spcPct val="0"/>
              </a:spcBef>
              <a:spcAft>
                <a:spcPct val="0"/>
              </a:spcAft>
              <a:buClrTx/>
              <a:buSzTx/>
              <a:buFontTx/>
              <a:buNone/>
              <a:tabLst/>
            </a:pP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Developed By</a:t>
            </a:r>
          </a:p>
          <a:p>
            <a:pPr lvl="0" indent="457200" algn="ctr" fontAlgn="base">
              <a:spcBef>
                <a:spcPct val="0"/>
              </a:spcBef>
              <a:spcAft>
                <a:spcPct val="0"/>
              </a:spcAft>
            </a:pPr>
            <a:r>
              <a:rPr lang="en-US" sz="2000" b="1" dirty="0">
                <a:solidFill>
                  <a:srgbClr val="1F497D"/>
                </a:solidFill>
                <a:latin typeface="Cambria" pitchFamily="18" charset="0"/>
                <a:ea typeface="Calibri" pitchFamily="34" charset="0"/>
                <a:cs typeface="Microsoft Sans Serif" pitchFamily="34" charset="0"/>
              </a:rPr>
              <a:t> </a:t>
            </a:r>
            <a:r>
              <a:rPr lang="en-US" sz="2200" b="1" dirty="0">
                <a:solidFill>
                  <a:srgbClr val="0070C0"/>
                </a:solidFill>
                <a:latin typeface="Cambria" pitchFamily="18" charset="0"/>
                <a:ea typeface="Calibri" pitchFamily="34" charset="0"/>
                <a:cs typeface="Microsoft Sans Serif" pitchFamily="34" charset="0"/>
              </a:rPr>
              <a:t>Malvik Parekh (2205103140018)</a:t>
            </a:r>
          </a:p>
          <a:p>
            <a:pPr indent="457200" algn="ctr" fontAlgn="base">
              <a:spcBef>
                <a:spcPct val="0"/>
              </a:spcBef>
              <a:spcAft>
                <a:spcPct val="0"/>
              </a:spcAft>
            </a:pPr>
            <a:r>
              <a:rPr lang="en-US" sz="2000" b="1" dirty="0">
                <a:solidFill>
                  <a:srgbClr val="1F497D"/>
                </a:solidFill>
                <a:latin typeface="Cambria" pitchFamily="18" charset="0"/>
                <a:ea typeface="Calibri" pitchFamily="34" charset="0"/>
                <a:cs typeface="Microsoft Sans Serif" pitchFamily="34" charset="0"/>
              </a:rPr>
              <a:t> </a:t>
            </a:r>
            <a:r>
              <a:rPr lang="en-US" sz="2200" b="1" dirty="0">
                <a:solidFill>
                  <a:srgbClr val="0070C0"/>
                </a:solidFill>
                <a:latin typeface="Cambria" pitchFamily="18" charset="0"/>
                <a:ea typeface="Calibri" pitchFamily="34" charset="0"/>
                <a:cs typeface="Microsoft Sans Serif" pitchFamily="34" charset="0"/>
              </a:rPr>
              <a:t>Palak </a:t>
            </a:r>
            <a:r>
              <a:rPr lang="en-US" sz="2200" b="1" dirty="0" err="1">
                <a:solidFill>
                  <a:srgbClr val="0070C0"/>
                </a:solidFill>
                <a:latin typeface="Cambria" pitchFamily="18" charset="0"/>
                <a:ea typeface="Calibri" pitchFamily="34" charset="0"/>
                <a:cs typeface="Microsoft Sans Serif" pitchFamily="34" charset="0"/>
              </a:rPr>
              <a:t>Kojani</a:t>
            </a:r>
            <a:r>
              <a:rPr lang="en-US" sz="2200" b="1" dirty="0">
                <a:solidFill>
                  <a:srgbClr val="0070C0"/>
                </a:solidFill>
                <a:latin typeface="Cambria" pitchFamily="18" charset="0"/>
                <a:ea typeface="Calibri" pitchFamily="34" charset="0"/>
                <a:cs typeface="Microsoft Sans Serif" pitchFamily="34" charset="0"/>
              </a:rPr>
              <a:t> (2205103140008)</a:t>
            </a:r>
          </a:p>
          <a:p>
            <a:pPr indent="457200" algn="ctr" fontAlgn="base">
              <a:spcBef>
                <a:spcPct val="0"/>
              </a:spcBef>
              <a:spcAft>
                <a:spcPct val="0"/>
              </a:spcAft>
            </a:pPr>
            <a:r>
              <a:rPr lang="en-US" sz="2000" b="1" dirty="0">
                <a:solidFill>
                  <a:srgbClr val="1F497D"/>
                </a:solidFill>
                <a:latin typeface="Cambria" pitchFamily="18" charset="0"/>
                <a:ea typeface="Calibri" pitchFamily="34" charset="0"/>
                <a:cs typeface="Microsoft Sans Serif" pitchFamily="34" charset="0"/>
              </a:rPr>
              <a:t> </a:t>
            </a:r>
            <a:r>
              <a:rPr lang="en-US" sz="2200" b="1" dirty="0">
                <a:solidFill>
                  <a:srgbClr val="0070C0"/>
                </a:solidFill>
                <a:latin typeface="Cambria" pitchFamily="18" charset="0"/>
                <a:ea typeface="Calibri" pitchFamily="34" charset="0"/>
                <a:cs typeface="Microsoft Sans Serif" pitchFamily="34" charset="0"/>
              </a:rPr>
              <a:t>Mohit </a:t>
            </a:r>
            <a:r>
              <a:rPr lang="en-US" sz="2200" b="1" dirty="0" err="1">
                <a:solidFill>
                  <a:srgbClr val="0070C0"/>
                </a:solidFill>
                <a:latin typeface="Cambria" pitchFamily="18" charset="0"/>
                <a:ea typeface="Calibri" pitchFamily="34" charset="0"/>
                <a:cs typeface="Microsoft Sans Serif" pitchFamily="34" charset="0"/>
              </a:rPr>
              <a:t>Agarwalla</a:t>
            </a:r>
            <a:r>
              <a:rPr lang="en-US" sz="2200" b="1" dirty="0">
                <a:solidFill>
                  <a:srgbClr val="0070C0"/>
                </a:solidFill>
                <a:latin typeface="Cambria" pitchFamily="18" charset="0"/>
                <a:ea typeface="Calibri" pitchFamily="34" charset="0"/>
                <a:cs typeface="Microsoft Sans Serif" pitchFamily="34" charset="0"/>
              </a:rPr>
              <a:t> (2205103140010)</a:t>
            </a:r>
            <a:endParaRPr lang="en-US" sz="2200" dirty="0">
              <a:latin typeface="Cambria" pitchFamily="18" charset="0"/>
              <a:cs typeface="Arial" pitchFamily="34" charset="0"/>
            </a:endParaRPr>
          </a:p>
          <a:p>
            <a:pPr indent="457200" algn="ctr" fontAlgn="base">
              <a:spcBef>
                <a:spcPct val="0"/>
              </a:spcBef>
              <a:spcAft>
                <a:spcPct val="0"/>
              </a:spcAft>
            </a:pPr>
            <a:endParaRPr lang="en-US" sz="2200" dirty="0">
              <a:latin typeface="Cambria" pitchFamily="18" charset="0"/>
              <a:cs typeface="Arial" pitchFamily="34" charset="0"/>
            </a:endParaRPr>
          </a:p>
          <a:p>
            <a:pPr lvl="0" indent="457200" algn="ctr" fontAlgn="base">
              <a:spcBef>
                <a:spcPct val="0"/>
              </a:spcBef>
              <a:spcAft>
                <a:spcPct val="0"/>
              </a:spcAft>
            </a:pPr>
            <a:endParaRPr kumimoji="0" lang="en-US" sz="2200" b="0" u="none" strike="noStrike" cap="none" normalizeH="0" baseline="0" dirty="0">
              <a:ln>
                <a:noFill/>
              </a:ln>
              <a:solidFill>
                <a:schemeClr val="tx1"/>
              </a:solidFill>
              <a:effectLst/>
              <a:latin typeface="Cambria" pitchFamily="18" charset="0"/>
              <a:cs typeface="Arial" pitchFamily="34" charset="0"/>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1F497D"/>
                </a:solidFill>
                <a:effectLst/>
                <a:latin typeface="Cambria" pitchFamily="18" charset="0"/>
                <a:ea typeface="Calibri" pitchFamily="34" charset="0"/>
                <a:cs typeface="Microsoft Sans Serif" pitchFamily="34" charset="0"/>
              </a:rPr>
              <a:t>    	</a:t>
            </a:r>
            <a:endParaRPr kumimoji="0" lang="en-US" sz="1900" b="1" i="0" u="none" strike="noStrike" cap="none" normalizeH="0" baseline="0" dirty="0">
              <a:ln>
                <a:noFill/>
              </a:ln>
              <a:solidFill>
                <a:schemeClr val="tx1"/>
              </a:solidFill>
              <a:effectLst/>
              <a:latin typeface="Cambria" pitchFamily="18" charset="0"/>
              <a:cs typeface="Arial" pitchFamily="34" charset="0"/>
            </a:endParaRPr>
          </a:p>
        </p:txBody>
      </p:sp>
      <p:sp>
        <p:nvSpPr>
          <p:cNvPr id="3" name="TextBox 2">
            <a:extLst>
              <a:ext uri="{FF2B5EF4-FFF2-40B4-BE49-F238E27FC236}">
                <a16:creationId xmlns:a16="http://schemas.microsoft.com/office/drawing/2014/main" id="{B0E5DA05-2AFC-BB05-15CA-7A7FC14AC4C3}"/>
              </a:ext>
            </a:extLst>
          </p:cNvPr>
          <p:cNvSpPr txBox="1"/>
          <p:nvPr/>
        </p:nvSpPr>
        <p:spPr>
          <a:xfrm>
            <a:off x="322729" y="1961885"/>
            <a:ext cx="4572000" cy="70788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a:solidFill>
                  <a:srgbClr val="0070C0"/>
                </a:solidFill>
                <a:latin typeface="Cambria" pitchFamily="18" charset="0"/>
                <a:ea typeface="Calibri" pitchFamily="34" charset="0"/>
                <a:cs typeface="Microsoft Sans Serif" pitchFamily="34" charset="0"/>
              </a:rPr>
              <a:t>External Guide</a:t>
            </a:r>
          </a:p>
          <a:p>
            <a:pPr algn="ctr" fontAlgn="base">
              <a:spcBef>
                <a:spcPct val="0"/>
              </a:spcBef>
              <a:spcAft>
                <a:spcPct val="0"/>
              </a:spcAft>
            </a:pPr>
            <a:r>
              <a:rPr lang="en-US" sz="2000" b="1" dirty="0">
                <a:solidFill>
                  <a:srgbClr val="0070C0"/>
                </a:solidFill>
                <a:latin typeface="Cambria" pitchFamily="18" charset="0"/>
                <a:ea typeface="Calibri" pitchFamily="34" charset="0"/>
                <a:cs typeface="Microsoft Sans Serif" pitchFamily="34" charset="0"/>
              </a:rPr>
              <a:t>Prof. Rishi Shah</a:t>
            </a:r>
          </a:p>
        </p:txBody>
      </p:sp>
      <p:sp>
        <p:nvSpPr>
          <p:cNvPr id="6" name="TextBox 5">
            <a:extLst>
              <a:ext uri="{FF2B5EF4-FFF2-40B4-BE49-F238E27FC236}">
                <a16:creationId xmlns:a16="http://schemas.microsoft.com/office/drawing/2014/main" id="{0F006926-38A2-EC8D-DC17-3B153D723375}"/>
              </a:ext>
            </a:extLst>
          </p:cNvPr>
          <p:cNvSpPr txBox="1"/>
          <p:nvPr/>
        </p:nvSpPr>
        <p:spPr>
          <a:xfrm>
            <a:off x="2286000" y="1238610"/>
            <a:ext cx="4572000" cy="3693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1800" b="1" dirty="0">
                <a:solidFill>
                  <a:srgbClr val="0070C0"/>
                </a:solidFill>
                <a:latin typeface="Cambria" pitchFamily="18" charset="0"/>
                <a:ea typeface="Calibri" pitchFamily="34" charset="0"/>
                <a:cs typeface="Microsoft Sans Serif" pitchFamily="34" charset="0"/>
              </a:rPr>
              <a:t>Under</a:t>
            </a: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 </a:t>
            </a:r>
            <a:r>
              <a:rPr lang="en-US" sz="1800" b="1" dirty="0">
                <a:solidFill>
                  <a:srgbClr val="0070C0"/>
                </a:solidFill>
                <a:latin typeface="Cambria" pitchFamily="18" charset="0"/>
                <a:ea typeface="Calibri" pitchFamily="34" charset="0"/>
                <a:cs typeface="Microsoft Sans Serif" pitchFamily="34" charset="0"/>
              </a:rPr>
              <a:t>The</a:t>
            </a: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 </a:t>
            </a:r>
            <a:r>
              <a:rPr lang="en-US" sz="1800" b="1" dirty="0">
                <a:solidFill>
                  <a:srgbClr val="0070C0"/>
                </a:solidFill>
                <a:latin typeface="Cambria" pitchFamily="18" charset="0"/>
                <a:ea typeface="Calibri" pitchFamily="34" charset="0"/>
                <a:cs typeface="Microsoft Sans Serif" pitchFamily="34" charset="0"/>
              </a:rPr>
              <a:t>Guidance Of</a:t>
            </a:r>
          </a:p>
        </p:txBody>
      </p:sp>
    </p:spTree>
    <p:extLst>
      <p:ext uri="{BB962C8B-B14F-4D97-AF65-F5344CB8AC3E}">
        <p14:creationId xmlns:p14="http://schemas.microsoft.com/office/powerpoint/2010/main" val="300849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15D92F5-C6BD-4770-B93B-CCC7110BADD0}" type="slidenum">
              <a:rPr lang="en-US" smtClean="0"/>
              <a:pPr/>
              <a:t>2</a:t>
            </a:fld>
            <a:endParaRPr lang="en-US" dirty="0"/>
          </a:p>
        </p:txBody>
      </p:sp>
      <p:sp>
        <p:nvSpPr>
          <p:cNvPr id="7" name="TextBox 6"/>
          <p:cNvSpPr txBox="1"/>
          <p:nvPr/>
        </p:nvSpPr>
        <p:spPr>
          <a:xfrm>
            <a:off x="439271" y="349624"/>
            <a:ext cx="828338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INDEX</a:t>
            </a:r>
          </a:p>
        </p:txBody>
      </p:sp>
      <p:sp>
        <p:nvSpPr>
          <p:cNvPr id="8" name="TextBox 7"/>
          <p:cNvSpPr txBox="1"/>
          <p:nvPr/>
        </p:nvSpPr>
        <p:spPr>
          <a:xfrm>
            <a:off x="439266" y="1147504"/>
            <a:ext cx="8283388"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Project Title &amp; Definition</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Project Description</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Existing System / Work Environment</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Problem Statement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Need for New System</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Proposed System &amp; Key Features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Project Scope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Expected Outcomes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Tools &amp; Technologies Used</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Project Plan &amp; Timeline</a:t>
            </a:r>
          </a:p>
        </p:txBody>
      </p:sp>
      <p:sp>
        <p:nvSpPr>
          <p:cNvPr id="9" name="Footer Placeholder 8"/>
          <p:cNvSpPr>
            <a:spLocks noGrp="1"/>
          </p:cNvSpPr>
          <p:nvPr>
            <p:ph type="ftr" sz="quarter" idx="11"/>
          </p:nvPr>
        </p:nvSpPr>
        <p:spPr>
          <a:xfrm>
            <a:off x="-29" y="6459786"/>
            <a:ext cx="1818585" cy="365125"/>
          </a:xfrm>
        </p:spPr>
        <p:txBody>
          <a:bodyPr/>
          <a:lstStyle/>
          <a:p>
            <a:r>
              <a:rPr lang="en-US" dirty="0"/>
              <a:t>HUNTBOX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FCD7D-11B5-F493-169A-07A7EB11CF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84D79F-9AAC-5DFA-BB2A-7E48E423FBAD}"/>
              </a:ext>
            </a:extLst>
          </p:cNvPr>
          <p:cNvSpPr>
            <a:spLocks noGrp="1"/>
          </p:cNvSpPr>
          <p:nvPr>
            <p:ph type="sldNum" sz="quarter" idx="12"/>
          </p:nvPr>
        </p:nvSpPr>
        <p:spPr/>
        <p:txBody>
          <a:bodyPr/>
          <a:lstStyle/>
          <a:p>
            <a:fld id="{615D92F5-C6BD-4770-B93B-CCC7110BADD0}" type="slidenum">
              <a:rPr lang="en-US" smtClean="0"/>
              <a:pPr/>
              <a:t>3</a:t>
            </a:fld>
            <a:endParaRPr lang="en-US" dirty="0"/>
          </a:p>
        </p:txBody>
      </p:sp>
      <p:sp>
        <p:nvSpPr>
          <p:cNvPr id="7" name="TextBox 6">
            <a:extLst>
              <a:ext uri="{FF2B5EF4-FFF2-40B4-BE49-F238E27FC236}">
                <a16:creationId xmlns:a16="http://schemas.microsoft.com/office/drawing/2014/main" id="{0664B516-6780-97A8-EF70-0CC7134DB057}"/>
              </a:ext>
            </a:extLst>
          </p:cNvPr>
          <p:cNvSpPr txBox="1"/>
          <p:nvPr/>
        </p:nvSpPr>
        <p:spPr>
          <a:xfrm>
            <a:off x="439271" y="349624"/>
            <a:ext cx="828338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PROJECT TITLE AND DEFINITION</a:t>
            </a:r>
          </a:p>
        </p:txBody>
      </p:sp>
      <p:sp>
        <p:nvSpPr>
          <p:cNvPr id="8" name="TextBox 7">
            <a:extLst>
              <a:ext uri="{FF2B5EF4-FFF2-40B4-BE49-F238E27FC236}">
                <a16:creationId xmlns:a16="http://schemas.microsoft.com/office/drawing/2014/main" id="{586F0DC4-A478-1FF3-9F33-AC262B9736E9}"/>
              </a:ext>
            </a:extLst>
          </p:cNvPr>
          <p:cNvSpPr txBox="1"/>
          <p:nvPr/>
        </p:nvSpPr>
        <p:spPr>
          <a:xfrm>
            <a:off x="439266" y="1147504"/>
            <a:ext cx="8283388" cy="5139869"/>
          </a:xfrm>
          <a:prstGeom prst="rect">
            <a:avLst/>
          </a:prstGeom>
          <a:noFill/>
        </p:spPr>
        <p:txBody>
          <a:bodyPr wrap="square" rtlCol="0">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aims to develop an Integrated Network and Web Application Security Assessment Toolkit, designed to provide a comprehensive solution for identifying and mitigating security risks across networks and web applications. The toolkit will integrate multiple tools and functionalities, including Nmap network scanning for discovering live hosts, open ports, and services, as well as OS detection and scriptable interactions using the Nmap Scripting Engine (NSE). It will also feature a JavaScript scanner to analyze web applications for client-side vulnerabilities, such as XSS and insecure DOM manipulation, through both static and dynamic analysis. </a:t>
            </a:r>
          </a:p>
          <a:p>
            <a:pPr marL="285750" lvl="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Additionally, the toolkit will include a subdomain finder to enumerate subdomains using public datasets and third-party APIs, and a subdomain brute-forcing tool to uncover hidden or less obvious subdomains through wordlist-based attacks. Finally, the toolkit will incorporate a vulnerability assessment module to identify, classify, and prioritize vulnerabilities, providing actionable recommendations for remediation. This integrated approach will empower security professionals, penetration testers, and system administrators to conduct thorough security assessments and enhance the overall security posture of their systems.</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3DE89BF9-E85E-719E-66C2-BB6B58C71265}"/>
              </a:ext>
            </a:extLst>
          </p:cNvPr>
          <p:cNvSpPr>
            <a:spLocks noGrp="1"/>
          </p:cNvSpPr>
          <p:nvPr>
            <p:ph type="ftr" sz="quarter" idx="11"/>
          </p:nvPr>
        </p:nvSpPr>
        <p:spPr>
          <a:xfrm>
            <a:off x="-29" y="6459786"/>
            <a:ext cx="1818585" cy="365125"/>
          </a:xfrm>
        </p:spPr>
        <p:txBody>
          <a:bodyPr/>
          <a:lstStyle/>
          <a:p>
            <a:r>
              <a:rPr lang="en-US" dirty="0"/>
              <a:t>Project Title</a:t>
            </a:r>
          </a:p>
        </p:txBody>
      </p:sp>
    </p:spTree>
    <p:extLst>
      <p:ext uri="{BB962C8B-B14F-4D97-AF65-F5344CB8AC3E}">
        <p14:creationId xmlns:p14="http://schemas.microsoft.com/office/powerpoint/2010/main" val="268661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A73C7-98F8-1CDE-8241-21B0514428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8B602F-7B8A-C297-FD87-2F6008E5846C}"/>
              </a:ext>
            </a:extLst>
          </p:cNvPr>
          <p:cNvSpPr>
            <a:spLocks noGrp="1"/>
          </p:cNvSpPr>
          <p:nvPr>
            <p:ph type="sldNum" sz="quarter" idx="12"/>
          </p:nvPr>
        </p:nvSpPr>
        <p:spPr/>
        <p:txBody>
          <a:bodyPr/>
          <a:lstStyle/>
          <a:p>
            <a:fld id="{615D92F5-C6BD-4770-B93B-CCC7110BADD0}" type="slidenum">
              <a:rPr lang="en-US" smtClean="0"/>
              <a:pPr/>
              <a:t>4</a:t>
            </a:fld>
            <a:endParaRPr lang="en-US" dirty="0"/>
          </a:p>
        </p:txBody>
      </p:sp>
      <p:sp>
        <p:nvSpPr>
          <p:cNvPr id="7" name="TextBox 6">
            <a:extLst>
              <a:ext uri="{FF2B5EF4-FFF2-40B4-BE49-F238E27FC236}">
                <a16:creationId xmlns:a16="http://schemas.microsoft.com/office/drawing/2014/main" id="{3BFBB118-BE6F-9148-3D63-5F0E98412FE7}"/>
              </a:ext>
            </a:extLst>
          </p:cNvPr>
          <p:cNvSpPr txBox="1"/>
          <p:nvPr/>
        </p:nvSpPr>
        <p:spPr>
          <a:xfrm>
            <a:off x="439271" y="349624"/>
            <a:ext cx="828338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PROJECT DESCRIPTION</a:t>
            </a:r>
          </a:p>
        </p:txBody>
      </p:sp>
      <p:sp>
        <p:nvSpPr>
          <p:cNvPr id="8" name="TextBox 7">
            <a:extLst>
              <a:ext uri="{FF2B5EF4-FFF2-40B4-BE49-F238E27FC236}">
                <a16:creationId xmlns:a16="http://schemas.microsoft.com/office/drawing/2014/main" id="{AEF7D067-3B2A-F1F9-4F71-DC9DE8869BCE}"/>
              </a:ext>
            </a:extLst>
          </p:cNvPr>
          <p:cNvSpPr txBox="1"/>
          <p:nvPr/>
        </p:nvSpPr>
        <p:spPr>
          <a:xfrm>
            <a:off x="439266" y="1147504"/>
            <a:ext cx="8283388" cy="4524315"/>
          </a:xfrm>
          <a:prstGeom prst="rect">
            <a:avLst/>
          </a:prstGeom>
          <a:noFill/>
        </p:spPr>
        <p:txBody>
          <a:bodyPr wrap="square" rtlCol="0">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Nmap is a powerful and widely-used open-source network scanning tool designed for network discovery, security auditing, and vulnerability assessment. It helps identify active devices, open ports, running services, and even the operating systems of target hosts. Its scripting engine, NSE, allows for advanced tasks like vulnerability detection and brute-forcing, making it a versatile tool for penetration testers and network administrators. For example, a simple Nmap command like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sV</a:t>
            </a:r>
            <a:r>
              <a:rPr lang="en-US" dirty="0">
                <a:latin typeface="Times New Roman" panose="02020603050405020304" pitchFamily="18" charset="0"/>
                <a:cs typeface="Times New Roman" panose="02020603050405020304" pitchFamily="18" charset="0"/>
              </a:rPr>
              <a:t> -O 192.168.1.1 can reveal open ports, service versions, and OS details of a target IP address.</a:t>
            </a:r>
          </a:p>
          <a:p>
            <a:pPr marL="285750" lvl="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JavaScript scanners, on the other hand, are tools or scripts written in JavaScript that focus on scanning web applications and websites for vulnerabilities such as Cross-Site Scripting (XSS) or insecure APIs. These scanners can analyze the Document Object Model (DOM) of web pages or test APIs for security flaws, often running in browsers or Node.js environments. Tools like ZAP (Zed Attack Proxy) and custom Node.js scripts are commonly used for this purpose, enabling automated and continuous security testing of web applications.</a:t>
            </a:r>
          </a:p>
        </p:txBody>
      </p:sp>
      <p:sp>
        <p:nvSpPr>
          <p:cNvPr id="9" name="Footer Placeholder 8">
            <a:extLst>
              <a:ext uri="{FF2B5EF4-FFF2-40B4-BE49-F238E27FC236}">
                <a16:creationId xmlns:a16="http://schemas.microsoft.com/office/drawing/2014/main" id="{4438B305-AD62-0508-9BF0-0E1BB33A58F6}"/>
              </a:ext>
            </a:extLst>
          </p:cNvPr>
          <p:cNvSpPr>
            <a:spLocks noGrp="1"/>
          </p:cNvSpPr>
          <p:nvPr>
            <p:ph type="ftr" sz="quarter" idx="11"/>
          </p:nvPr>
        </p:nvSpPr>
        <p:spPr>
          <a:xfrm>
            <a:off x="-29" y="6459786"/>
            <a:ext cx="1818585" cy="365125"/>
          </a:xfrm>
        </p:spPr>
        <p:txBody>
          <a:bodyPr/>
          <a:lstStyle/>
          <a:p>
            <a:r>
              <a:rPr lang="en-US" dirty="0"/>
              <a:t>HUNTBOX</a:t>
            </a:r>
          </a:p>
        </p:txBody>
      </p:sp>
    </p:spTree>
    <p:extLst>
      <p:ext uri="{BB962C8B-B14F-4D97-AF65-F5344CB8AC3E}">
        <p14:creationId xmlns:p14="http://schemas.microsoft.com/office/powerpoint/2010/main" val="538002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A8240-D861-7F0E-9CDE-C2CFA5633D4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EF0CEA-E35E-F36D-D6F8-482712B65C19}"/>
              </a:ext>
            </a:extLst>
          </p:cNvPr>
          <p:cNvSpPr>
            <a:spLocks noGrp="1"/>
          </p:cNvSpPr>
          <p:nvPr>
            <p:ph type="sldNum" sz="quarter" idx="12"/>
          </p:nvPr>
        </p:nvSpPr>
        <p:spPr/>
        <p:txBody>
          <a:bodyPr/>
          <a:lstStyle/>
          <a:p>
            <a:fld id="{615D92F5-C6BD-4770-B93B-CCC7110BADD0}" type="slidenum">
              <a:rPr lang="en-US" smtClean="0"/>
              <a:pPr/>
              <a:t>5</a:t>
            </a:fld>
            <a:endParaRPr lang="en-US" dirty="0"/>
          </a:p>
        </p:txBody>
      </p:sp>
      <p:sp>
        <p:nvSpPr>
          <p:cNvPr id="8" name="TextBox 7">
            <a:extLst>
              <a:ext uri="{FF2B5EF4-FFF2-40B4-BE49-F238E27FC236}">
                <a16:creationId xmlns:a16="http://schemas.microsoft.com/office/drawing/2014/main" id="{DAC0A477-AD6A-A337-F519-C53ED5EDEF67}"/>
              </a:ext>
            </a:extLst>
          </p:cNvPr>
          <p:cNvSpPr txBox="1"/>
          <p:nvPr/>
        </p:nvSpPr>
        <p:spPr>
          <a:xfrm>
            <a:off x="439265" y="846138"/>
            <a:ext cx="8416867" cy="5632311"/>
          </a:xfrm>
          <a:prstGeom prst="rect">
            <a:avLst/>
          </a:prstGeom>
          <a:noFill/>
        </p:spPr>
        <p:txBody>
          <a:bodyPr wrap="square" rtlCol="0">
            <a:spAutoFit/>
          </a:bodyPr>
          <a:lstStyle/>
          <a:p>
            <a:pPr lvl="0"/>
            <a:r>
              <a:rPr lang="en-US" dirty="0">
                <a:latin typeface="Times New Roman" panose="02020603050405020304" pitchFamily="18" charset="0"/>
                <a:cs typeface="Times New Roman" panose="02020603050405020304" pitchFamily="18" charset="0"/>
              </a:rPr>
              <a:t>1.	Cybersecurity Teams and Penetration Testers</a:t>
            </a:r>
          </a:p>
          <a:p>
            <a:pPr lvl="0"/>
            <a:r>
              <a:rPr lang="en-US" dirty="0">
                <a:latin typeface="Times New Roman" panose="02020603050405020304" pitchFamily="18" charset="0"/>
                <a:cs typeface="Times New Roman" panose="02020603050405020304" pitchFamily="18" charset="0"/>
              </a:rPr>
              <a:t>Role: Cybersecurity teams and penetration testers are responsible for identifying and mitigating security risks in an organization's infrastructure.</a:t>
            </a:r>
          </a:p>
          <a:p>
            <a:pPr lvl="0"/>
            <a:r>
              <a:rPr lang="en-US" dirty="0">
                <a:latin typeface="Times New Roman" panose="02020603050405020304" pitchFamily="18" charset="0"/>
                <a:cs typeface="Times New Roman" panose="02020603050405020304" pitchFamily="18" charset="0"/>
              </a:rPr>
              <a:t>	Work Environment:</a:t>
            </a:r>
          </a:p>
          <a:p>
            <a:pPr lvl="0"/>
            <a:r>
              <a:rPr lang="en-US" dirty="0">
                <a:latin typeface="Times New Roman" panose="02020603050405020304" pitchFamily="18" charset="0"/>
                <a:cs typeface="Times New Roman" panose="02020603050405020304" pitchFamily="18" charset="0"/>
              </a:rPr>
              <a:t>o	They use tools like Nmap for network scanning, Subfinder for subdomain enumeration, and JavaScript scanners for web application testing.</a:t>
            </a:r>
          </a:p>
          <a:p>
            <a:pPr lvl="0"/>
            <a:r>
              <a:rPr lang="en-US" dirty="0">
                <a:latin typeface="Times New Roman" panose="02020603050405020304" pitchFamily="18" charset="0"/>
                <a:cs typeface="Times New Roman" panose="02020603050405020304" pitchFamily="18" charset="0"/>
              </a:rPr>
              <a:t>o	These tools are often integrated into a larger workflow that includes reconnaissance, vulnerability scanning, exploitation, and reporting.</a:t>
            </a:r>
          </a:p>
          <a:p>
            <a:pPr lvl="0"/>
            <a:r>
              <a:rPr lang="en-US" dirty="0">
                <a:latin typeface="Times New Roman" panose="02020603050405020304" pitchFamily="18" charset="0"/>
                <a:cs typeface="Times New Roman" panose="02020603050405020304" pitchFamily="18" charset="0"/>
              </a:rPr>
              <a:t>o	Teams may work in a controlled lab environment or directly on live systems (with proper authorization).</a:t>
            </a:r>
          </a:p>
          <a:p>
            <a:pPr lvl="0"/>
            <a:r>
              <a:rPr lang="en-US" dirty="0">
                <a:latin typeface="Times New Roman" panose="02020603050405020304" pitchFamily="18" charset="0"/>
                <a:cs typeface="Times New Roman" panose="02020603050405020304" pitchFamily="18" charset="0"/>
              </a:rPr>
              <a:t>2.	 Security Operations Center (SOC)</a:t>
            </a:r>
          </a:p>
          <a:p>
            <a:pPr lvl="0"/>
            <a:r>
              <a:rPr lang="en-US" dirty="0">
                <a:latin typeface="Times New Roman" panose="02020603050405020304" pitchFamily="18" charset="0"/>
                <a:cs typeface="Times New Roman" panose="02020603050405020304" pitchFamily="18" charset="0"/>
              </a:rPr>
              <a:t>	Role: SOC analysts monitor and respond to security incidents in real-time.</a:t>
            </a:r>
          </a:p>
          <a:p>
            <a:pPr lvl="0"/>
            <a:r>
              <a:rPr lang="en-US" dirty="0">
                <a:latin typeface="Times New Roman" panose="02020603050405020304" pitchFamily="18" charset="0"/>
                <a:cs typeface="Times New Roman" panose="02020603050405020304" pitchFamily="18" charset="0"/>
              </a:rPr>
              <a:t>	Work Environment:</a:t>
            </a:r>
          </a:p>
          <a:p>
            <a:pPr lvl="0"/>
            <a:r>
              <a:rPr lang="en-US" dirty="0">
                <a:latin typeface="Times New Roman" panose="02020603050405020304" pitchFamily="18" charset="0"/>
                <a:cs typeface="Times New Roman" panose="02020603050405020304" pitchFamily="18" charset="0"/>
              </a:rPr>
              <a:t>o	Tools like Nmap and vulnerability scanners are used to assess the security posture of the network.</a:t>
            </a:r>
          </a:p>
          <a:p>
            <a:pPr lvl="0"/>
            <a:r>
              <a:rPr lang="en-US" dirty="0">
                <a:latin typeface="Times New Roman" panose="02020603050405020304" pitchFamily="18" charset="0"/>
                <a:cs typeface="Times New Roman" panose="02020603050405020304" pitchFamily="18" charset="0"/>
              </a:rPr>
              <a:t>o	Hunt box or similar platforms may be used for threat hunting and incident response.</a:t>
            </a:r>
          </a:p>
          <a:p>
            <a:pPr lvl="0"/>
            <a:r>
              <a:rPr lang="en-US" dirty="0">
                <a:latin typeface="Times New Roman" panose="02020603050405020304" pitchFamily="18" charset="0"/>
                <a:cs typeface="Times New Roman" panose="02020603050405020304" pitchFamily="18" charset="0"/>
              </a:rPr>
              <a:t>o	Analysts work in a high-pressure environment, often using dashboards and alerts to detect and respond to threats.</a:t>
            </a:r>
          </a:p>
          <a:p>
            <a:pPr lvl="0"/>
            <a:endParaRPr lang="en-US"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655D148A-F134-3B9F-9384-64938AE87067}"/>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7472B120-EF3D-E589-D6D7-8C29A4B6C709}"/>
              </a:ext>
            </a:extLst>
          </p:cNvPr>
          <p:cNvSpPr txBox="1"/>
          <p:nvPr/>
        </p:nvSpPr>
        <p:spPr>
          <a:xfrm>
            <a:off x="321734" y="261363"/>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EXISTING SYSTEM/ WORK ENVIRONMENT</a:t>
            </a:r>
          </a:p>
        </p:txBody>
      </p:sp>
    </p:spTree>
    <p:extLst>
      <p:ext uri="{BB962C8B-B14F-4D97-AF65-F5344CB8AC3E}">
        <p14:creationId xmlns:p14="http://schemas.microsoft.com/office/powerpoint/2010/main" val="403011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D5DF-F91A-EEED-D56C-C879FBB4E9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12D924-0664-5D27-A9F7-AA72653768F2}"/>
              </a:ext>
            </a:extLst>
          </p:cNvPr>
          <p:cNvSpPr>
            <a:spLocks noGrp="1"/>
          </p:cNvSpPr>
          <p:nvPr>
            <p:ph type="sldNum" sz="quarter" idx="12"/>
          </p:nvPr>
        </p:nvSpPr>
        <p:spPr/>
        <p:txBody>
          <a:bodyPr/>
          <a:lstStyle/>
          <a:p>
            <a:fld id="{615D92F5-C6BD-4770-B93B-CCC7110BADD0}" type="slidenum">
              <a:rPr lang="en-US" smtClean="0"/>
              <a:pPr/>
              <a:t>6</a:t>
            </a:fld>
            <a:endParaRPr lang="en-US" dirty="0"/>
          </a:p>
        </p:txBody>
      </p:sp>
      <p:sp>
        <p:nvSpPr>
          <p:cNvPr id="8" name="TextBox 7">
            <a:extLst>
              <a:ext uri="{FF2B5EF4-FFF2-40B4-BE49-F238E27FC236}">
                <a16:creationId xmlns:a16="http://schemas.microsoft.com/office/drawing/2014/main" id="{E00792BA-6CF2-7D72-07DD-4624F6FE8100}"/>
              </a:ext>
            </a:extLst>
          </p:cNvPr>
          <p:cNvSpPr txBox="1"/>
          <p:nvPr/>
        </p:nvSpPr>
        <p:spPr>
          <a:xfrm>
            <a:off x="439266" y="1147504"/>
            <a:ext cx="8283388" cy="3139321"/>
          </a:xfrm>
          <a:prstGeom prst="rect">
            <a:avLst/>
          </a:prstGeom>
          <a:noFill/>
        </p:spPr>
        <p:txBody>
          <a:bodyPr wrap="square" rtlCol="0">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3.	 Bug Bounty Hunters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Role: Bug bounty hunters identify vulnerabilities in web applications and networks for rewards.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Work Environment:</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	They use tools like Subfinder for subdomain discovery and JavaScript scanners for finding web vulnerabilities.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	Brute-forcing techniques may be employed to uncover hidden endpoints or credentials.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	Bug bounty hunters often work independently or as part of a community, testing publicly accessible systems.</a:t>
            </a:r>
          </a:p>
          <a:p>
            <a:pPr marL="285750" lvl="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7D655E18-BF6C-DBC0-6C7E-B4BD5E063798}"/>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F2FEC3BA-E858-C9BB-B15A-5B6FA941595B}"/>
              </a:ext>
            </a:extLst>
          </p:cNvPr>
          <p:cNvSpPr txBox="1"/>
          <p:nvPr/>
        </p:nvSpPr>
        <p:spPr>
          <a:xfrm>
            <a:off x="321734" y="261363"/>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EXISTING SYSTEM/ WORK ENVIRONMENT</a:t>
            </a:r>
          </a:p>
        </p:txBody>
      </p:sp>
    </p:spTree>
    <p:extLst>
      <p:ext uri="{BB962C8B-B14F-4D97-AF65-F5344CB8AC3E}">
        <p14:creationId xmlns:p14="http://schemas.microsoft.com/office/powerpoint/2010/main" val="3693525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4C36D-08B9-4612-F0A4-AEAC8DE63F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BB697D-D639-115E-B4BE-EFD51EC041A0}"/>
              </a:ext>
            </a:extLst>
          </p:cNvPr>
          <p:cNvSpPr>
            <a:spLocks noGrp="1"/>
          </p:cNvSpPr>
          <p:nvPr>
            <p:ph type="sldNum" sz="quarter" idx="12"/>
          </p:nvPr>
        </p:nvSpPr>
        <p:spPr/>
        <p:txBody>
          <a:bodyPr/>
          <a:lstStyle/>
          <a:p>
            <a:fld id="{615D92F5-C6BD-4770-B93B-CCC7110BADD0}" type="slidenum">
              <a:rPr lang="en-US" smtClean="0"/>
              <a:pPr/>
              <a:t>7</a:t>
            </a:fld>
            <a:endParaRPr lang="en-US" dirty="0"/>
          </a:p>
        </p:txBody>
      </p:sp>
      <p:sp>
        <p:nvSpPr>
          <p:cNvPr id="8" name="TextBox 7">
            <a:extLst>
              <a:ext uri="{FF2B5EF4-FFF2-40B4-BE49-F238E27FC236}">
                <a16:creationId xmlns:a16="http://schemas.microsoft.com/office/drawing/2014/main" id="{8FB1EACC-0371-14C0-C0E8-35F9DEBF31AE}"/>
              </a:ext>
            </a:extLst>
          </p:cNvPr>
          <p:cNvSpPr txBox="1"/>
          <p:nvPr/>
        </p:nvSpPr>
        <p:spPr>
          <a:xfrm>
            <a:off x="439266" y="1147504"/>
            <a:ext cx="8283388" cy="5078313"/>
          </a:xfrm>
          <a:prstGeom prst="rect">
            <a:avLst/>
          </a:prstGeom>
          <a:noFill/>
        </p:spPr>
        <p:txBody>
          <a:bodyPr wrap="square" rtlCol="0">
            <a:spAutoFit/>
          </a:bodyPr>
          <a:lstStyle/>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Incomplete Network Visibility</a:t>
            </a:r>
            <a:r>
              <a:rPr lang="en-US"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Tools like </a:t>
            </a:r>
            <a:r>
              <a:rPr lang="en-US" b="1" dirty="0">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provide network scanning capabilities, but they may miss hidden or non-responsive hosts, leaving blind spots in the network.</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Subdomains and endpoints that are not publicly known (e.g., discovered through </a:t>
            </a:r>
            <a:r>
              <a:rPr lang="en-US" b="1" dirty="0">
                <a:latin typeface="Times New Roman" panose="02020603050405020304" pitchFamily="18" charset="0"/>
                <a:cs typeface="Times New Roman" panose="02020603050405020304" pitchFamily="18" charset="0"/>
              </a:rPr>
              <a:t>Subfinder</a:t>
            </a:r>
            <a:r>
              <a:rPr lang="en-US" dirty="0">
                <a:latin typeface="Times New Roman" panose="02020603050405020304" pitchFamily="18" charset="0"/>
                <a:cs typeface="Times New Roman" panose="02020603050405020304" pitchFamily="18" charset="0"/>
              </a:rPr>
              <a:t> or brute-forcing) can serve as entry points for attackers.</a:t>
            </a:r>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Web Application Vulnerabilities</a:t>
            </a:r>
            <a:r>
              <a:rPr lang="en-US"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JavaScript scanners</a:t>
            </a:r>
            <a:r>
              <a:rPr lang="en-US" dirty="0">
                <a:latin typeface="Times New Roman" panose="02020603050405020304" pitchFamily="18" charset="0"/>
                <a:cs typeface="Times New Roman" panose="02020603050405020304" pitchFamily="18" charset="0"/>
              </a:rPr>
              <a:t> and other web application testing tools may fail to detect complex vulnerabilities like business logic flaws or zero-day exploits.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increasing use of JavaScript frameworks and APIs in modern web applications introduces new attack surfaces that are difficult to secure.</a:t>
            </a:r>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Inefficient Reconnaissance</a:t>
            </a:r>
            <a:r>
              <a:rPr lang="en-US"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Manual reconnaissance processes, such as subdomain enumeration and brute-forcing, are time-consuming and resource-intensive.</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integration between tools (e.g., </a:t>
            </a:r>
            <a:r>
              <a:rPr lang="en-US" b="1" dirty="0">
                <a:latin typeface="Times New Roman" panose="02020603050405020304" pitchFamily="18" charset="0"/>
                <a:cs typeface="Times New Roman" panose="02020603050405020304" pitchFamily="18" charset="0"/>
              </a:rPr>
              <a:t>Subfinder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vulnerability scanners) leads to fragmented workflows and inefficiencies.</a:t>
            </a:r>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False Positives and Negatives</a:t>
            </a:r>
            <a:r>
              <a:rPr lang="en-US"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Vulnerability assessment tools often generate false positives, requiring manual verification and increasing the workload for security teams.</a:t>
            </a:r>
            <a:endParaRPr lang="en-US" sz="1600"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E02F6330-FDA2-790A-7BF7-33AAA8DA56A5}"/>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E095CB86-3432-7BCB-BC1C-E2BFD0BCFCEF}"/>
              </a:ext>
            </a:extLst>
          </p:cNvPr>
          <p:cNvSpPr txBox="1"/>
          <p:nvPr/>
        </p:nvSpPr>
        <p:spPr>
          <a:xfrm>
            <a:off x="321734" y="261363"/>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104966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FDEE-AFF8-AB34-792D-1C8E1BC44A6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B51131-A2BC-ACBB-2D07-AF31BB653C12}"/>
              </a:ext>
            </a:extLst>
          </p:cNvPr>
          <p:cNvSpPr>
            <a:spLocks noGrp="1"/>
          </p:cNvSpPr>
          <p:nvPr>
            <p:ph type="sldNum" sz="quarter" idx="12"/>
          </p:nvPr>
        </p:nvSpPr>
        <p:spPr/>
        <p:txBody>
          <a:bodyPr/>
          <a:lstStyle/>
          <a:p>
            <a:fld id="{615D92F5-C6BD-4770-B93B-CCC7110BADD0}" type="slidenum">
              <a:rPr lang="en-US" smtClean="0"/>
              <a:pPr/>
              <a:t>8</a:t>
            </a:fld>
            <a:endParaRPr lang="en-US" dirty="0"/>
          </a:p>
        </p:txBody>
      </p:sp>
      <p:sp>
        <p:nvSpPr>
          <p:cNvPr id="8" name="TextBox 7">
            <a:extLst>
              <a:ext uri="{FF2B5EF4-FFF2-40B4-BE49-F238E27FC236}">
                <a16:creationId xmlns:a16="http://schemas.microsoft.com/office/drawing/2014/main" id="{611739F1-2CE0-B125-98A6-55C507CC8D5B}"/>
              </a:ext>
            </a:extLst>
          </p:cNvPr>
          <p:cNvSpPr txBox="1"/>
          <p:nvPr/>
        </p:nvSpPr>
        <p:spPr>
          <a:xfrm>
            <a:off x="439266" y="1147504"/>
            <a:ext cx="8283388" cy="4801314"/>
          </a:xfrm>
          <a:prstGeom prst="rect">
            <a:avLst/>
          </a:prstGeom>
          <a:noFill/>
        </p:spPr>
        <p:txBody>
          <a:bodyPr wrap="square" rtlCol="0">
            <a:spAutoFit/>
          </a:bodyPr>
          <a:lstStyle/>
          <a:p>
            <a:pPr lvl="0"/>
            <a:r>
              <a:rPr lang="en-US" b="1" dirty="0">
                <a:latin typeface="Times New Roman" panose="02020603050405020304" pitchFamily="18" charset="0"/>
                <a:cs typeface="Times New Roman" panose="02020603050405020304" pitchFamily="18" charset="0"/>
              </a:rPr>
              <a:t>1. Incomplete Network Visibility</a:t>
            </a:r>
          </a:p>
          <a:p>
            <a:pPr lvl="0"/>
            <a:r>
              <a:rPr lang="en-US" dirty="0">
                <a:latin typeface="Times New Roman" panose="02020603050405020304" pitchFamily="18" charset="0"/>
                <a:cs typeface="Times New Roman" panose="02020603050405020304" pitchFamily="18" charset="0"/>
              </a:rPr>
              <a:t>•	Problem: Existing tools like Nmap and Subfinder may miss hidden or non-responsive hosts, subdomains, or endpoints, creating blind spots in the network.</a:t>
            </a:r>
          </a:p>
          <a:p>
            <a:pPr lvl="0"/>
            <a:r>
              <a:rPr lang="en-US" dirty="0">
                <a:latin typeface="Times New Roman" panose="02020603050405020304" pitchFamily="18" charset="0"/>
                <a:cs typeface="Times New Roman" panose="02020603050405020304" pitchFamily="18" charset="0"/>
              </a:rPr>
              <a:t>•	Need for a New System:</a:t>
            </a:r>
          </a:p>
          <a:p>
            <a:pPr lvl="0"/>
            <a:r>
              <a:rPr lang="en-US" dirty="0">
                <a:latin typeface="Times New Roman" panose="02020603050405020304" pitchFamily="18" charset="0"/>
                <a:cs typeface="Times New Roman" panose="02020603050405020304" pitchFamily="18" charset="0"/>
              </a:rPr>
              <a:t>o	A unified platform that combines network scanning, subdomain enumeration, and endpoint discovery to provide complete visibility.</a:t>
            </a:r>
          </a:p>
          <a:p>
            <a:pPr lvl="0"/>
            <a:r>
              <a:rPr lang="en-US" dirty="0">
                <a:latin typeface="Times New Roman" panose="02020603050405020304" pitchFamily="18" charset="0"/>
                <a:cs typeface="Times New Roman" panose="02020603050405020304" pitchFamily="18" charset="0"/>
              </a:rPr>
              <a:t>o	Integration of passive and active reconnaissance techniques to identify all potential attack surfaces.</a:t>
            </a:r>
          </a:p>
          <a:p>
            <a:pPr lvl="0"/>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2. Inefficient Web Application Security</a:t>
            </a:r>
          </a:p>
          <a:p>
            <a:pPr lvl="0"/>
            <a:r>
              <a:rPr lang="en-US" dirty="0">
                <a:latin typeface="Times New Roman" panose="02020603050405020304" pitchFamily="18" charset="0"/>
                <a:cs typeface="Times New Roman" panose="02020603050405020304" pitchFamily="18" charset="0"/>
              </a:rPr>
              <a:t>•	Problem: JavaScript scanners and other web application testing tools struggle to detect complex vulnerabilities, especially in modern frameworks and APIs.</a:t>
            </a:r>
          </a:p>
          <a:p>
            <a:pPr lvl="0"/>
            <a:r>
              <a:rPr lang="en-US" dirty="0">
                <a:latin typeface="Times New Roman" panose="02020603050405020304" pitchFamily="18" charset="0"/>
                <a:cs typeface="Times New Roman" panose="02020603050405020304" pitchFamily="18" charset="0"/>
              </a:rPr>
              <a:t>•	Need for a New System:</a:t>
            </a:r>
          </a:p>
          <a:p>
            <a:pPr lvl="0"/>
            <a:r>
              <a:rPr lang="en-US" dirty="0">
                <a:latin typeface="Times New Roman" panose="02020603050405020304" pitchFamily="18" charset="0"/>
                <a:cs typeface="Times New Roman" panose="02020603050405020304" pitchFamily="18" charset="0"/>
              </a:rPr>
              <a:t>o	Advanced scanning tools that can analyze JavaScript-heavy applications and detect business logic flaws, zero-day vulnerabilities, and API security issues.</a:t>
            </a:r>
          </a:p>
          <a:p>
            <a:pPr lvl="0"/>
            <a:r>
              <a:rPr lang="en-US" dirty="0">
                <a:latin typeface="Times New Roman" panose="02020603050405020304" pitchFamily="18" charset="0"/>
                <a:cs typeface="Times New Roman" panose="02020603050405020304" pitchFamily="18" charset="0"/>
              </a:rPr>
              <a:t>o	Real-time monitoring and automated testing capabilities for continuous web application security.</a:t>
            </a:r>
          </a:p>
        </p:txBody>
      </p:sp>
      <p:sp>
        <p:nvSpPr>
          <p:cNvPr id="9" name="Footer Placeholder 8">
            <a:extLst>
              <a:ext uri="{FF2B5EF4-FFF2-40B4-BE49-F238E27FC236}">
                <a16:creationId xmlns:a16="http://schemas.microsoft.com/office/drawing/2014/main" id="{84B2B4A4-1DD9-55B8-5B85-735A3120F780}"/>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C54BFA01-67FF-F494-875F-42E27FBE96A7}"/>
              </a:ext>
            </a:extLst>
          </p:cNvPr>
          <p:cNvSpPr txBox="1"/>
          <p:nvPr/>
        </p:nvSpPr>
        <p:spPr>
          <a:xfrm>
            <a:off x="321734" y="261363"/>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NEED FOR NEW SYSTEM</a:t>
            </a:r>
          </a:p>
        </p:txBody>
      </p:sp>
    </p:spTree>
    <p:extLst>
      <p:ext uri="{BB962C8B-B14F-4D97-AF65-F5344CB8AC3E}">
        <p14:creationId xmlns:p14="http://schemas.microsoft.com/office/powerpoint/2010/main" val="2429212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BB410-B32F-4F04-12C6-EEF1537D16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4622CA-0F4B-D2D9-107F-9C0AC9E7665D}"/>
              </a:ext>
            </a:extLst>
          </p:cNvPr>
          <p:cNvSpPr>
            <a:spLocks noGrp="1"/>
          </p:cNvSpPr>
          <p:nvPr>
            <p:ph type="sldNum" sz="quarter" idx="12"/>
          </p:nvPr>
        </p:nvSpPr>
        <p:spPr/>
        <p:txBody>
          <a:bodyPr/>
          <a:lstStyle/>
          <a:p>
            <a:fld id="{615D92F5-C6BD-4770-B93B-CCC7110BADD0}" type="slidenum">
              <a:rPr lang="en-US" smtClean="0"/>
              <a:pPr/>
              <a:t>9</a:t>
            </a:fld>
            <a:endParaRPr lang="en-US" dirty="0"/>
          </a:p>
        </p:txBody>
      </p:sp>
      <p:sp>
        <p:nvSpPr>
          <p:cNvPr id="8" name="TextBox 7">
            <a:extLst>
              <a:ext uri="{FF2B5EF4-FFF2-40B4-BE49-F238E27FC236}">
                <a16:creationId xmlns:a16="http://schemas.microsoft.com/office/drawing/2014/main" id="{E4912181-D2A9-B521-F5BF-F5271556D03D}"/>
              </a:ext>
            </a:extLst>
          </p:cNvPr>
          <p:cNvSpPr txBox="1"/>
          <p:nvPr/>
        </p:nvSpPr>
        <p:spPr>
          <a:xfrm>
            <a:off x="439266" y="1147504"/>
            <a:ext cx="8283388" cy="5078313"/>
          </a:xfrm>
          <a:prstGeom prst="rect">
            <a:avLst/>
          </a:prstGeom>
          <a:noFill/>
        </p:spPr>
        <p:txBody>
          <a:bodyPr wrap="square" rtlCol="0">
            <a:spAutoFit/>
          </a:bodyPr>
          <a:lstStyle/>
          <a:p>
            <a:pPr lvl="0"/>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Fragmented Workflows</a:t>
            </a:r>
          </a:p>
          <a:p>
            <a:pPr lvl="0"/>
            <a:r>
              <a:rPr lang="en-US" dirty="0">
                <a:latin typeface="Times New Roman" panose="02020603050405020304" pitchFamily="18" charset="0"/>
                <a:cs typeface="Times New Roman" panose="02020603050405020304" pitchFamily="18" charset="0"/>
              </a:rPr>
              <a:t>•	Problem: Security teams often use multiple tools (e.g., Nmap, Subfinder, vulnerability scanners) in isolation, leading to fragmented workflows and inefficiencies.</a:t>
            </a:r>
          </a:p>
          <a:p>
            <a:pPr lvl="0"/>
            <a:r>
              <a:rPr lang="en-US" dirty="0">
                <a:latin typeface="Times New Roman" panose="02020603050405020304" pitchFamily="18" charset="0"/>
                <a:cs typeface="Times New Roman" panose="02020603050405020304" pitchFamily="18" charset="0"/>
              </a:rPr>
              <a:t>•	Need for a New System:</a:t>
            </a:r>
          </a:p>
          <a:p>
            <a:pPr lvl="0"/>
            <a:r>
              <a:rPr lang="en-US" dirty="0">
                <a:latin typeface="Times New Roman" panose="02020603050405020304" pitchFamily="18" charset="0"/>
                <a:cs typeface="Times New Roman" panose="02020603050405020304" pitchFamily="18" charset="0"/>
              </a:rPr>
              <a:t>o	An integrated platform that combines network scanning, subdomain discovery, brute-forcing, and vulnerability assessment into a single workflow.</a:t>
            </a:r>
          </a:p>
          <a:p>
            <a:pPr lvl="0"/>
            <a:r>
              <a:rPr lang="en-US" dirty="0">
                <a:latin typeface="Times New Roman" panose="02020603050405020304" pitchFamily="18" charset="0"/>
                <a:cs typeface="Times New Roman" panose="02020603050405020304" pitchFamily="18" charset="0"/>
              </a:rPr>
              <a:t>o	Automation of repetitive tasks like reconnaissance, scanning, and reporting to save time and resources.</a:t>
            </a:r>
          </a:p>
          <a:p>
            <a:pPr lvl="0"/>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High False Positives and Negatives</a:t>
            </a:r>
          </a:p>
          <a:p>
            <a:pPr lvl="0"/>
            <a:r>
              <a:rPr lang="en-US" dirty="0">
                <a:latin typeface="Times New Roman" panose="02020603050405020304" pitchFamily="18" charset="0"/>
                <a:cs typeface="Times New Roman" panose="02020603050405020304" pitchFamily="18" charset="0"/>
              </a:rPr>
              <a:t>•	Problem: Vulnerability assessment tools generate a high number of false positives, requiring manual verification, while some vulnerabilities go undetected (false negatives).</a:t>
            </a:r>
          </a:p>
          <a:p>
            <a:pPr lvl="0"/>
            <a:r>
              <a:rPr lang="en-US" dirty="0">
                <a:latin typeface="Times New Roman" panose="02020603050405020304" pitchFamily="18" charset="0"/>
                <a:cs typeface="Times New Roman" panose="02020603050405020304" pitchFamily="18" charset="0"/>
              </a:rPr>
              <a:t>•	Need for a New System:</a:t>
            </a:r>
          </a:p>
          <a:p>
            <a:pPr lvl="0"/>
            <a:r>
              <a:rPr lang="en-US" dirty="0">
                <a:latin typeface="Times New Roman" panose="02020603050405020304" pitchFamily="18" charset="0"/>
                <a:cs typeface="Times New Roman" panose="02020603050405020304" pitchFamily="18" charset="0"/>
              </a:rPr>
              <a:t>o	Use of machine learning and AI to improve the accuracy of vulnerability detection and reduce false positives.</a:t>
            </a:r>
          </a:p>
          <a:p>
            <a:pPr lvl="0"/>
            <a:r>
              <a:rPr lang="en-US" dirty="0">
                <a:latin typeface="Times New Roman" panose="02020603050405020304" pitchFamily="18" charset="0"/>
                <a:cs typeface="Times New Roman" panose="02020603050405020304" pitchFamily="18" charset="0"/>
              </a:rPr>
              <a:t>o	Prioritization of vulnerabilities based on severity and potential impact to help teams focus on critical issues.</a:t>
            </a:r>
          </a:p>
        </p:txBody>
      </p:sp>
      <p:sp>
        <p:nvSpPr>
          <p:cNvPr id="9" name="Footer Placeholder 8">
            <a:extLst>
              <a:ext uri="{FF2B5EF4-FFF2-40B4-BE49-F238E27FC236}">
                <a16:creationId xmlns:a16="http://schemas.microsoft.com/office/drawing/2014/main" id="{D86AE885-15B8-2F8D-2418-ABB2898A93C4}"/>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64F31ABE-6155-44F6-917D-04C94C6E0250}"/>
              </a:ext>
            </a:extLst>
          </p:cNvPr>
          <p:cNvSpPr txBox="1"/>
          <p:nvPr/>
        </p:nvSpPr>
        <p:spPr>
          <a:xfrm>
            <a:off x="321734" y="261363"/>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NEED FOR NEW SYSTEM</a:t>
            </a:r>
          </a:p>
        </p:txBody>
      </p:sp>
    </p:spTree>
    <p:extLst>
      <p:ext uri="{BB962C8B-B14F-4D97-AF65-F5344CB8AC3E}">
        <p14:creationId xmlns:p14="http://schemas.microsoft.com/office/powerpoint/2010/main" val="481266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4C285-5D0D-9FEF-E01E-8ADF81EC4F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A22E8F-4EDE-60C0-1F25-6FFFC580CFD9}"/>
              </a:ext>
            </a:extLst>
          </p:cNvPr>
          <p:cNvSpPr>
            <a:spLocks noGrp="1"/>
          </p:cNvSpPr>
          <p:nvPr>
            <p:ph type="sldNum" sz="quarter" idx="12"/>
          </p:nvPr>
        </p:nvSpPr>
        <p:spPr/>
        <p:txBody>
          <a:bodyPr/>
          <a:lstStyle/>
          <a:p>
            <a:fld id="{615D92F5-C6BD-4770-B93B-CCC7110BADD0}" type="slidenum">
              <a:rPr lang="en-US" smtClean="0"/>
              <a:pPr/>
              <a:t>10</a:t>
            </a:fld>
            <a:endParaRPr lang="en-US" dirty="0"/>
          </a:p>
        </p:txBody>
      </p:sp>
      <p:sp>
        <p:nvSpPr>
          <p:cNvPr id="8" name="TextBox 7">
            <a:extLst>
              <a:ext uri="{FF2B5EF4-FFF2-40B4-BE49-F238E27FC236}">
                <a16:creationId xmlns:a16="http://schemas.microsoft.com/office/drawing/2014/main" id="{774123D1-4C60-39F9-24DA-3EC43818E416}"/>
              </a:ext>
            </a:extLst>
          </p:cNvPr>
          <p:cNvSpPr txBox="1"/>
          <p:nvPr/>
        </p:nvSpPr>
        <p:spPr>
          <a:xfrm>
            <a:off x="430306" y="584170"/>
            <a:ext cx="8283388" cy="5909310"/>
          </a:xfrm>
          <a:prstGeom prst="rect">
            <a:avLst/>
          </a:prstGeom>
          <a:noFill/>
        </p:spPr>
        <p:txBody>
          <a:bodyPr wrap="square" rtlCol="0">
            <a:spAutoFit/>
          </a:bodyPr>
          <a:lstStyle/>
          <a:p>
            <a:pPr lvl="0"/>
            <a:r>
              <a:rPr lang="en-US" b="1" dirty="0">
                <a:latin typeface="Times New Roman" panose="02020603050405020304" pitchFamily="18" charset="0"/>
                <a:cs typeface="Times New Roman" panose="02020603050405020304" pitchFamily="18" charset="0"/>
              </a:rPr>
              <a:t>1. Unified Platform</a:t>
            </a:r>
          </a:p>
          <a:p>
            <a:pPr lvl="0"/>
            <a:r>
              <a:rPr lang="en-US" dirty="0">
                <a:latin typeface="Times New Roman" panose="02020603050405020304" pitchFamily="18" charset="0"/>
                <a:cs typeface="Times New Roman" panose="02020603050405020304" pitchFamily="18" charset="0"/>
              </a:rPr>
              <a:t>•	Integration of Tools: Combine functionalities of Nmap, Subfinder, JavaScript scanners, and vulnerability assessment tools into a single interface.</a:t>
            </a:r>
          </a:p>
          <a:p>
            <a:pPr lvl="0"/>
            <a:r>
              <a:rPr lang="en-US" dirty="0">
                <a:latin typeface="Times New Roman" panose="02020603050405020304" pitchFamily="18" charset="0"/>
                <a:cs typeface="Times New Roman" panose="02020603050405020304" pitchFamily="18" charset="0"/>
              </a:rPr>
              <a:t>•	Centralized Dashboard: Provide a unified dashboard for monitoring network security, web application vulnerabilities, and threat intelligence.</a:t>
            </a:r>
          </a:p>
          <a:p>
            <a:pPr lvl="0"/>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2. Advanced Network Scanning</a:t>
            </a:r>
          </a:p>
          <a:p>
            <a:pPr lvl="0"/>
            <a:r>
              <a:rPr lang="en-US" dirty="0">
                <a:latin typeface="Times New Roman" panose="02020603050405020304" pitchFamily="18" charset="0"/>
                <a:cs typeface="Times New Roman" panose="02020603050405020304" pitchFamily="18" charset="0"/>
              </a:rPr>
              <a:t>•	Comprehensive Discovery: Use Nmap-like capabilities to identify active hosts, open ports, and services, while also detecting hidden or non-responsive devices.</a:t>
            </a:r>
          </a:p>
          <a:p>
            <a:pPr lvl="0"/>
            <a:r>
              <a:rPr lang="en-US" dirty="0">
                <a:latin typeface="Times New Roman" panose="02020603050405020304" pitchFamily="18" charset="0"/>
                <a:cs typeface="Times New Roman" panose="02020603050405020304" pitchFamily="18" charset="0"/>
              </a:rPr>
              <a:t>•	OS and Service Detection: Automatically detect operating systems and service versions running on target hosts.</a:t>
            </a:r>
          </a:p>
          <a:p>
            <a:pPr lvl="0"/>
            <a:r>
              <a:rPr lang="en-US" dirty="0">
                <a:latin typeface="Times New Roman" panose="02020603050405020304" pitchFamily="18" charset="0"/>
                <a:cs typeface="Times New Roman" panose="02020603050405020304" pitchFamily="18" charset="0"/>
              </a:rPr>
              <a:t>•	Customizable Scans: Allow users to configure scan types (e.g., TCP, UDP, SYN) and intensity levels.</a:t>
            </a:r>
          </a:p>
          <a:p>
            <a:pPr lvl="0"/>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3. Subdomain Enumeration and Brute-Forcing</a:t>
            </a:r>
          </a:p>
          <a:p>
            <a:pPr lvl="0"/>
            <a:r>
              <a:rPr lang="en-US" dirty="0">
                <a:latin typeface="Times New Roman" panose="02020603050405020304" pitchFamily="18" charset="0"/>
                <a:cs typeface="Times New Roman" panose="02020603050405020304" pitchFamily="18" charset="0"/>
              </a:rPr>
              <a:t>•	Passive Enumeration: Use Subfinder-like techniques to collect subdomains from public sources.</a:t>
            </a:r>
          </a:p>
          <a:p>
            <a:pPr lvl="0"/>
            <a:r>
              <a:rPr lang="en-US" dirty="0">
                <a:latin typeface="Times New Roman" panose="02020603050405020304" pitchFamily="18" charset="0"/>
                <a:cs typeface="Times New Roman" panose="02020603050405020304" pitchFamily="18" charset="0"/>
              </a:rPr>
              <a:t>•	Active Enumeration: Perform brute-forcing using customizable wordlists to discover hidden subdomains.</a:t>
            </a:r>
          </a:p>
          <a:p>
            <a:pPr lvl="0"/>
            <a:r>
              <a:rPr lang="en-US" dirty="0">
                <a:latin typeface="Times New Roman" panose="02020603050405020304" pitchFamily="18" charset="0"/>
                <a:cs typeface="Times New Roman" panose="02020603050405020304" pitchFamily="18" charset="0"/>
              </a:rPr>
              <a:t>•	API Integration: Integrate with DNS databases and threat intelligence feeds for enriched results.</a:t>
            </a:r>
          </a:p>
        </p:txBody>
      </p:sp>
      <p:sp>
        <p:nvSpPr>
          <p:cNvPr id="9" name="Footer Placeholder 8">
            <a:extLst>
              <a:ext uri="{FF2B5EF4-FFF2-40B4-BE49-F238E27FC236}">
                <a16:creationId xmlns:a16="http://schemas.microsoft.com/office/drawing/2014/main" id="{BF346D0F-98D9-51AF-07B5-CF3D9360A66C}"/>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9C9F0A70-E01D-4BA9-3F10-9FAC9DC2731D}"/>
              </a:ext>
            </a:extLst>
          </p:cNvPr>
          <p:cNvSpPr txBox="1"/>
          <p:nvPr/>
        </p:nvSpPr>
        <p:spPr>
          <a:xfrm>
            <a:off x="321734" y="33089"/>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PROPOSED SYSTEM AND FEATURES</a:t>
            </a:r>
          </a:p>
        </p:txBody>
      </p:sp>
    </p:spTree>
    <p:extLst>
      <p:ext uri="{BB962C8B-B14F-4D97-AF65-F5344CB8AC3E}">
        <p14:creationId xmlns:p14="http://schemas.microsoft.com/office/powerpoint/2010/main" val="1677070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B0F60-7186-2593-FD9A-AB6BC7A414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A773644-9D1D-AC74-E561-C13D79FEAF56}"/>
              </a:ext>
            </a:extLst>
          </p:cNvPr>
          <p:cNvSpPr>
            <a:spLocks noGrp="1"/>
          </p:cNvSpPr>
          <p:nvPr>
            <p:ph type="sldNum" sz="quarter" idx="12"/>
          </p:nvPr>
        </p:nvSpPr>
        <p:spPr/>
        <p:txBody>
          <a:bodyPr/>
          <a:lstStyle/>
          <a:p>
            <a:fld id="{615D92F5-C6BD-4770-B93B-CCC7110BADD0}" type="slidenum">
              <a:rPr lang="en-US" smtClean="0"/>
              <a:pPr/>
              <a:t>11</a:t>
            </a:fld>
            <a:endParaRPr lang="en-US" dirty="0"/>
          </a:p>
        </p:txBody>
      </p:sp>
      <p:sp>
        <p:nvSpPr>
          <p:cNvPr id="8" name="TextBox 7">
            <a:extLst>
              <a:ext uri="{FF2B5EF4-FFF2-40B4-BE49-F238E27FC236}">
                <a16:creationId xmlns:a16="http://schemas.microsoft.com/office/drawing/2014/main" id="{EFEF4A2D-01C5-21D2-B899-E80B0E717C07}"/>
              </a:ext>
            </a:extLst>
          </p:cNvPr>
          <p:cNvSpPr txBox="1"/>
          <p:nvPr/>
        </p:nvSpPr>
        <p:spPr>
          <a:xfrm>
            <a:off x="591173" y="1041369"/>
            <a:ext cx="8283388" cy="4431983"/>
          </a:xfrm>
          <a:prstGeom prst="rect">
            <a:avLst/>
          </a:prstGeom>
          <a:noFill/>
        </p:spPr>
        <p:txBody>
          <a:bodyPr wrap="square" rtlCol="0">
            <a:spAutoFit/>
          </a:bodyPr>
          <a:lstStyle/>
          <a:p>
            <a:pPr marL="285750" lvl="0" indent="-285750">
              <a:buFont typeface="Arial" panose="020B0604020202020204" pitchFamily="34" charset="0"/>
              <a:buChar char="•"/>
            </a:pPr>
            <a:r>
              <a:rPr lang="en-US" b="1" dirty="0"/>
              <a:t>Functional Scope</a:t>
            </a:r>
            <a:r>
              <a:rPr lang="en-US" sz="1600" dirty="0"/>
              <a:t>:</a:t>
            </a:r>
            <a:endParaRPr lang="en-US" sz="1400" dirty="0"/>
          </a:p>
          <a:p>
            <a:pPr marL="742950" lvl="1" indent="-285750">
              <a:buFont typeface="Arial" panose="020B0604020202020204" pitchFamily="34" charset="0"/>
              <a:buChar char="•"/>
            </a:pPr>
            <a:r>
              <a:rPr lang="en-US" dirty="0"/>
              <a:t>Network scanning, subdomain enumeration, web application testing, brute-forcing, vulnerability assessment, threat hunting, and compliance reporting.</a:t>
            </a:r>
          </a:p>
          <a:p>
            <a:pPr lvl="1"/>
            <a:endParaRPr lang="en-US" sz="1600" dirty="0"/>
          </a:p>
          <a:p>
            <a:pPr marL="285750" lvl="0" indent="-285750">
              <a:buFont typeface="Arial" panose="020B0604020202020204" pitchFamily="34" charset="0"/>
              <a:buChar char="•"/>
            </a:pPr>
            <a:r>
              <a:rPr lang="en-US" b="1" dirty="0"/>
              <a:t>Technical Scope</a:t>
            </a:r>
            <a:r>
              <a:rPr lang="en-US" dirty="0"/>
              <a:t>:</a:t>
            </a:r>
            <a:endParaRPr lang="en-US" sz="1400" dirty="0"/>
          </a:p>
          <a:p>
            <a:pPr marL="742950" lvl="1" indent="-285750">
              <a:buFont typeface="Arial" panose="020B0604020202020204" pitchFamily="34" charset="0"/>
              <a:buChar char="•"/>
            </a:pPr>
            <a:r>
              <a:rPr lang="en-US" dirty="0"/>
              <a:t>Modular, scalable architecture using Python/Go and user-friendly interfaces.</a:t>
            </a:r>
          </a:p>
          <a:p>
            <a:pPr lvl="1"/>
            <a:endParaRPr lang="en-US" sz="1600" dirty="0"/>
          </a:p>
          <a:p>
            <a:pPr marL="285750" lvl="0" indent="-285750">
              <a:buFont typeface="Arial" panose="020B0604020202020204" pitchFamily="34" charset="0"/>
              <a:buChar char="•"/>
            </a:pPr>
            <a:r>
              <a:rPr lang="en-US" b="1" dirty="0"/>
              <a:t>Application Scope</a:t>
            </a:r>
            <a:r>
              <a:rPr lang="en-US" dirty="0"/>
              <a:t>:</a:t>
            </a:r>
            <a:endParaRPr lang="en-US" sz="1400" dirty="0"/>
          </a:p>
          <a:p>
            <a:pPr marL="742950" lvl="1" indent="-285750">
              <a:buFont typeface="Arial" panose="020B0604020202020204" pitchFamily="34" charset="0"/>
              <a:buChar char="•"/>
            </a:pPr>
            <a:r>
              <a:rPr lang="en-US" dirty="0"/>
              <a:t>Penetration testing, threat hunting, incident response, compliance audits, and bug bounty programs across industries like IT, finance, healthcare, e-commerce, and government.</a:t>
            </a:r>
          </a:p>
          <a:p>
            <a:pPr lvl="1"/>
            <a:endParaRPr lang="en-US" sz="1600" dirty="0"/>
          </a:p>
          <a:p>
            <a:pPr marL="285750" lvl="0" indent="-285750">
              <a:buFont typeface="Arial" panose="020B0604020202020204" pitchFamily="34" charset="0"/>
              <a:buChar char="•"/>
            </a:pPr>
            <a:r>
              <a:rPr lang="en-US" b="1" dirty="0"/>
              <a:t>Development Scope</a:t>
            </a:r>
            <a:r>
              <a:rPr lang="en-US" dirty="0"/>
              <a:t>:</a:t>
            </a:r>
            <a:endParaRPr lang="en-US" sz="1400" dirty="0"/>
          </a:p>
          <a:p>
            <a:pPr marL="742950" lvl="1" indent="-285750">
              <a:buFont typeface="Arial" panose="020B0604020202020204" pitchFamily="34" charset="0"/>
              <a:buChar char="•"/>
            </a:pPr>
            <a:r>
              <a:rPr lang="en-US" dirty="0"/>
              <a:t>Research, design, prototyping, implementation, testing, deployment, and maintenance.</a:t>
            </a:r>
            <a:endParaRPr lang="en-US" sz="1600" dirty="0"/>
          </a:p>
          <a:p>
            <a:r>
              <a:rPr lang="en-US" dirty="0"/>
              <a:t> </a:t>
            </a:r>
            <a:endParaRPr lang="en-US" sz="1600" dirty="0"/>
          </a:p>
        </p:txBody>
      </p:sp>
      <p:sp>
        <p:nvSpPr>
          <p:cNvPr id="9" name="Footer Placeholder 8">
            <a:extLst>
              <a:ext uri="{FF2B5EF4-FFF2-40B4-BE49-F238E27FC236}">
                <a16:creationId xmlns:a16="http://schemas.microsoft.com/office/drawing/2014/main" id="{C0907E6F-FA25-3724-1A34-A6E389F960F8}"/>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22C83701-D244-79EB-DBCE-FABA8D8C6BAC}"/>
              </a:ext>
            </a:extLst>
          </p:cNvPr>
          <p:cNvSpPr txBox="1"/>
          <p:nvPr/>
        </p:nvSpPr>
        <p:spPr>
          <a:xfrm>
            <a:off x="591173" y="363289"/>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PROJECT SCOPE</a:t>
            </a:r>
          </a:p>
        </p:txBody>
      </p:sp>
    </p:spTree>
    <p:extLst>
      <p:ext uri="{BB962C8B-B14F-4D97-AF65-F5344CB8AC3E}">
        <p14:creationId xmlns:p14="http://schemas.microsoft.com/office/powerpoint/2010/main" val="3363481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D451-6E0D-2263-E33F-2E09C8ACDB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7A9476-2040-3F91-A561-168E459A85A7}"/>
              </a:ext>
            </a:extLst>
          </p:cNvPr>
          <p:cNvSpPr>
            <a:spLocks noGrp="1"/>
          </p:cNvSpPr>
          <p:nvPr>
            <p:ph type="sldNum" sz="quarter" idx="12"/>
          </p:nvPr>
        </p:nvSpPr>
        <p:spPr/>
        <p:txBody>
          <a:bodyPr/>
          <a:lstStyle/>
          <a:p>
            <a:fld id="{615D92F5-C6BD-4770-B93B-CCC7110BADD0}" type="slidenum">
              <a:rPr lang="en-US" smtClean="0"/>
              <a:pPr/>
              <a:t>12</a:t>
            </a:fld>
            <a:endParaRPr lang="en-US" dirty="0"/>
          </a:p>
        </p:txBody>
      </p:sp>
      <p:sp>
        <p:nvSpPr>
          <p:cNvPr id="8" name="TextBox 7">
            <a:extLst>
              <a:ext uri="{FF2B5EF4-FFF2-40B4-BE49-F238E27FC236}">
                <a16:creationId xmlns:a16="http://schemas.microsoft.com/office/drawing/2014/main" id="{850C8933-A0B6-5097-0791-86C59969F50D}"/>
              </a:ext>
            </a:extLst>
          </p:cNvPr>
          <p:cNvSpPr txBox="1"/>
          <p:nvPr/>
        </p:nvSpPr>
        <p:spPr>
          <a:xfrm>
            <a:off x="591173" y="1236103"/>
            <a:ext cx="8283388" cy="4524315"/>
          </a:xfrm>
          <a:prstGeom prst="rect">
            <a:avLst/>
          </a:prstGeom>
          <a:noFill/>
        </p:spPr>
        <p:txBody>
          <a:bodyPr wrap="square" rtlCol="0">
            <a:spAutoFit/>
          </a:bodyPr>
          <a:lstStyle/>
          <a:p>
            <a:pPr lvl="0"/>
            <a:r>
              <a:rPr lang="en-US" dirty="0"/>
              <a:t>1.Improved Network Visibility</a:t>
            </a:r>
          </a:p>
          <a:p>
            <a:pPr lvl="0"/>
            <a:r>
              <a:rPr lang="en-US" dirty="0"/>
              <a:t>•	Outcome: Complete visibility into the network, including hidden hosts, subdomains, and endpoints.</a:t>
            </a:r>
          </a:p>
          <a:p>
            <a:pPr lvl="0"/>
            <a:r>
              <a:rPr lang="en-US" dirty="0"/>
              <a:t>•	Impact: Reduces blind spots and minimizes the attack surface.</a:t>
            </a:r>
          </a:p>
          <a:p>
            <a:pPr lvl="0"/>
            <a:endParaRPr lang="en-US" dirty="0"/>
          </a:p>
          <a:p>
            <a:pPr lvl="0"/>
            <a:r>
              <a:rPr lang="en-US" dirty="0"/>
              <a:t>2. Enhanced Web Application Security</a:t>
            </a:r>
          </a:p>
          <a:p>
            <a:pPr lvl="0"/>
            <a:r>
              <a:rPr lang="en-US" dirty="0"/>
              <a:t>•	Outcome: Detection of complex vulnerabilities in JavaScript-heavy applications and APIs.</a:t>
            </a:r>
          </a:p>
          <a:p>
            <a:pPr lvl="0"/>
            <a:r>
              <a:rPr lang="en-US" dirty="0"/>
              <a:t>•	Impact: Protects web applications from attacks like XSS, SQL injection, and data leaks.</a:t>
            </a:r>
          </a:p>
          <a:p>
            <a:pPr lvl="0"/>
            <a:endParaRPr lang="en-US" dirty="0"/>
          </a:p>
          <a:p>
            <a:pPr lvl="0"/>
            <a:r>
              <a:rPr lang="en-US" dirty="0"/>
              <a:t>3. Streamlined Workflows</a:t>
            </a:r>
          </a:p>
          <a:p>
            <a:pPr lvl="0"/>
            <a:r>
              <a:rPr lang="en-US" dirty="0"/>
              <a:t>•	Outcome: Integration of tools like Nmap, Subfinder, and vulnerability scanners into a unified platform.</a:t>
            </a:r>
          </a:p>
          <a:p>
            <a:pPr lvl="0"/>
            <a:r>
              <a:rPr lang="en-US" dirty="0"/>
              <a:t>•	Impact: Saves time and resources by automating repetitive tasks and improving efficiency.</a:t>
            </a:r>
          </a:p>
        </p:txBody>
      </p:sp>
      <p:sp>
        <p:nvSpPr>
          <p:cNvPr id="9" name="Footer Placeholder 8">
            <a:extLst>
              <a:ext uri="{FF2B5EF4-FFF2-40B4-BE49-F238E27FC236}">
                <a16:creationId xmlns:a16="http://schemas.microsoft.com/office/drawing/2014/main" id="{32AE2A3D-3368-095E-56DA-BCD9BFA701A6}"/>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7C16AE88-A97B-9873-B28B-4914942C65B9}"/>
              </a:ext>
            </a:extLst>
          </p:cNvPr>
          <p:cNvSpPr txBox="1"/>
          <p:nvPr/>
        </p:nvSpPr>
        <p:spPr>
          <a:xfrm>
            <a:off x="591173" y="363289"/>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PROJECT OUTCOME</a:t>
            </a:r>
          </a:p>
        </p:txBody>
      </p:sp>
    </p:spTree>
    <p:extLst>
      <p:ext uri="{BB962C8B-B14F-4D97-AF65-F5344CB8AC3E}">
        <p14:creationId xmlns:p14="http://schemas.microsoft.com/office/powerpoint/2010/main" val="4108164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8E9A1-1264-B3E4-E34C-2ED27988590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057173-1D95-F081-DAFD-E835D23C7DC2}"/>
              </a:ext>
            </a:extLst>
          </p:cNvPr>
          <p:cNvSpPr>
            <a:spLocks noGrp="1"/>
          </p:cNvSpPr>
          <p:nvPr>
            <p:ph type="sldNum" sz="quarter" idx="12"/>
          </p:nvPr>
        </p:nvSpPr>
        <p:spPr/>
        <p:txBody>
          <a:bodyPr/>
          <a:lstStyle/>
          <a:p>
            <a:fld id="{615D92F5-C6BD-4770-B93B-CCC7110BADD0}" type="slidenum">
              <a:rPr lang="en-US" smtClean="0"/>
              <a:pPr/>
              <a:t>13</a:t>
            </a:fld>
            <a:endParaRPr lang="en-US" dirty="0"/>
          </a:p>
        </p:txBody>
      </p:sp>
      <p:sp>
        <p:nvSpPr>
          <p:cNvPr id="8" name="TextBox 7">
            <a:extLst>
              <a:ext uri="{FF2B5EF4-FFF2-40B4-BE49-F238E27FC236}">
                <a16:creationId xmlns:a16="http://schemas.microsoft.com/office/drawing/2014/main" id="{DEBBE15E-676A-E97E-99BF-E0EEE94FC842}"/>
              </a:ext>
            </a:extLst>
          </p:cNvPr>
          <p:cNvSpPr txBox="1"/>
          <p:nvPr/>
        </p:nvSpPr>
        <p:spPr>
          <a:xfrm>
            <a:off x="591173" y="1236103"/>
            <a:ext cx="8283388" cy="5078313"/>
          </a:xfrm>
          <a:prstGeom prst="rect">
            <a:avLst/>
          </a:prstGeom>
          <a:noFill/>
        </p:spPr>
        <p:txBody>
          <a:bodyPr wrap="square" rtlCol="0">
            <a:spAutoFit/>
          </a:bodyPr>
          <a:lstStyle/>
          <a:p>
            <a:pPr lvl="0"/>
            <a:r>
              <a:rPr lang="en-US" dirty="0"/>
              <a:t>1.               Programming Languages</a:t>
            </a:r>
          </a:p>
          <a:p>
            <a:pPr lvl="0"/>
            <a:r>
              <a:rPr lang="en-US" dirty="0"/>
              <a:t>These languages will be used for developing and customizing the system:</a:t>
            </a:r>
          </a:p>
          <a:p>
            <a:pPr lvl="0"/>
            <a:r>
              <a:rPr lang="en-US" dirty="0"/>
              <a:t>•	Python: For scripting, automation, and integration of tools.</a:t>
            </a:r>
          </a:p>
          <a:p>
            <a:pPr lvl="0"/>
            <a:r>
              <a:rPr lang="en-US" dirty="0"/>
              <a:t>•	Go: For building high-performance, scalable components.</a:t>
            </a:r>
          </a:p>
          <a:p>
            <a:pPr lvl="0"/>
            <a:endParaRPr lang="en-US" dirty="0"/>
          </a:p>
          <a:p>
            <a:pPr lvl="0"/>
            <a:r>
              <a:rPr lang="en-US" dirty="0"/>
              <a:t>2.	 Frameworks and Libraries</a:t>
            </a:r>
          </a:p>
          <a:p>
            <a:pPr lvl="0"/>
            <a:r>
              <a:rPr lang="en-US" dirty="0"/>
              <a:t>These frameworks and libraries will support the development and functionality of the system:</a:t>
            </a:r>
          </a:p>
          <a:p>
            <a:pPr lvl="0"/>
            <a:r>
              <a:rPr lang="en-US" dirty="0"/>
              <a:t>•	Flask/Django (Python): For building web-based interfaces and APIs.</a:t>
            </a:r>
          </a:p>
          <a:p>
            <a:pPr lvl="0"/>
            <a:r>
              <a:rPr lang="en-US" dirty="0"/>
              <a:t>•	Python: For creating user-friendly front-end interfaces.</a:t>
            </a:r>
          </a:p>
          <a:p>
            <a:pPr lvl="0"/>
            <a:r>
              <a:rPr lang="en-US" dirty="0"/>
              <a:t>•	</a:t>
            </a:r>
            <a:r>
              <a:rPr lang="en-US" dirty="0" err="1"/>
              <a:t>Scapy</a:t>
            </a:r>
            <a:r>
              <a:rPr lang="en-US" dirty="0"/>
              <a:t> (Python): For packet manipulation and network analysis.</a:t>
            </a:r>
          </a:p>
          <a:p>
            <a:pPr lvl="0"/>
            <a:endParaRPr lang="en-US" dirty="0"/>
          </a:p>
          <a:p>
            <a:pPr lvl="0"/>
            <a:r>
              <a:rPr lang="en-US" dirty="0"/>
              <a:t>3.	 Threat Intelligence Integration</a:t>
            </a:r>
          </a:p>
          <a:p>
            <a:pPr lvl="0"/>
            <a:r>
              <a:rPr lang="en-US" dirty="0"/>
              <a:t>These tools and feeds will enhance threat detection capabilities:</a:t>
            </a:r>
          </a:p>
          <a:p>
            <a:pPr lvl="0"/>
            <a:r>
              <a:rPr lang="en-US" dirty="0"/>
              <a:t>•	MISP (Malware Information Sharing Platform): For sharing and correlating threat intelligence.</a:t>
            </a:r>
          </a:p>
          <a:p>
            <a:pPr lvl="0"/>
            <a:r>
              <a:rPr lang="en-US" dirty="0"/>
              <a:t>•	AlienVault OTX: For accessing global threat data.</a:t>
            </a:r>
          </a:p>
          <a:p>
            <a:pPr lvl="0"/>
            <a:r>
              <a:rPr lang="en-US" dirty="0"/>
              <a:t>•	</a:t>
            </a:r>
            <a:r>
              <a:rPr lang="en-US" dirty="0" err="1"/>
              <a:t>VirusTotal</a:t>
            </a:r>
            <a:r>
              <a:rPr lang="en-US" dirty="0"/>
              <a:t>: For analyzing suspicious files and URLs.</a:t>
            </a:r>
          </a:p>
        </p:txBody>
      </p:sp>
      <p:sp>
        <p:nvSpPr>
          <p:cNvPr id="9" name="Footer Placeholder 8">
            <a:extLst>
              <a:ext uri="{FF2B5EF4-FFF2-40B4-BE49-F238E27FC236}">
                <a16:creationId xmlns:a16="http://schemas.microsoft.com/office/drawing/2014/main" id="{BA816018-DA41-4277-1B61-AF9505058A19}"/>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5ECC1B89-281A-9315-29CE-DB2FD35613CD}"/>
              </a:ext>
            </a:extLst>
          </p:cNvPr>
          <p:cNvSpPr txBox="1"/>
          <p:nvPr/>
        </p:nvSpPr>
        <p:spPr>
          <a:xfrm>
            <a:off x="591173" y="363289"/>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TOOLS AND TECHNOLOGY USED</a:t>
            </a:r>
          </a:p>
        </p:txBody>
      </p:sp>
    </p:spTree>
    <p:extLst>
      <p:ext uri="{BB962C8B-B14F-4D97-AF65-F5344CB8AC3E}">
        <p14:creationId xmlns:p14="http://schemas.microsoft.com/office/powerpoint/2010/main" val="3508006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1DFAF-4ED9-BD84-FE97-F4DC07C38C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1B609C-B4AE-8F1B-D7C7-39FC958719D1}"/>
              </a:ext>
            </a:extLst>
          </p:cNvPr>
          <p:cNvSpPr>
            <a:spLocks noGrp="1"/>
          </p:cNvSpPr>
          <p:nvPr>
            <p:ph type="sldNum" sz="quarter" idx="12"/>
          </p:nvPr>
        </p:nvSpPr>
        <p:spPr/>
        <p:txBody>
          <a:bodyPr/>
          <a:lstStyle/>
          <a:p>
            <a:fld id="{615D92F5-C6BD-4770-B93B-CCC7110BADD0}" type="slidenum">
              <a:rPr lang="en-US" smtClean="0"/>
              <a:pPr/>
              <a:t>14</a:t>
            </a:fld>
            <a:endParaRPr lang="en-US" dirty="0"/>
          </a:p>
        </p:txBody>
      </p:sp>
      <p:sp>
        <p:nvSpPr>
          <p:cNvPr id="8" name="TextBox 7">
            <a:extLst>
              <a:ext uri="{FF2B5EF4-FFF2-40B4-BE49-F238E27FC236}">
                <a16:creationId xmlns:a16="http://schemas.microsoft.com/office/drawing/2014/main" id="{0888747F-8796-5EAB-AC6A-88F84C595B0B}"/>
              </a:ext>
            </a:extLst>
          </p:cNvPr>
          <p:cNvSpPr txBox="1"/>
          <p:nvPr/>
        </p:nvSpPr>
        <p:spPr>
          <a:xfrm>
            <a:off x="591173" y="1236103"/>
            <a:ext cx="8283388" cy="5078313"/>
          </a:xfrm>
          <a:prstGeom prst="rect">
            <a:avLst/>
          </a:prstGeom>
          <a:noFill/>
        </p:spPr>
        <p:txBody>
          <a:bodyPr wrap="square" rtlCol="0">
            <a:spAutoFit/>
          </a:bodyPr>
          <a:lstStyle/>
          <a:p>
            <a:r>
              <a:rPr lang="en-US" b="1" dirty="0"/>
              <a:t>Objectives:</a:t>
            </a:r>
            <a:endParaRPr lang="en-US" dirty="0"/>
          </a:p>
          <a:p>
            <a:pPr lvl="0"/>
            <a:r>
              <a:rPr lang="en-US" dirty="0"/>
              <a:t>Build a unified platform for network scanning, subdomain discovery, web app testing, brute-forcing, and vulnerability assessment.</a:t>
            </a:r>
          </a:p>
          <a:p>
            <a:r>
              <a:rPr lang="en-US" b="1" dirty="0"/>
              <a:t>Phases:</a:t>
            </a:r>
            <a:endParaRPr lang="en-US" dirty="0"/>
          </a:p>
          <a:p>
            <a:pPr lvl="0"/>
            <a:r>
              <a:rPr lang="en-US" dirty="0"/>
              <a:t>Phase 1: Research &amp; Planning (2 Weeks).</a:t>
            </a:r>
          </a:p>
          <a:p>
            <a:pPr lvl="0"/>
            <a:r>
              <a:rPr lang="en-US" dirty="0"/>
              <a:t>Study tools, define requirements, finalize tech stack.</a:t>
            </a:r>
          </a:p>
          <a:p>
            <a:pPr lvl="0"/>
            <a:r>
              <a:rPr lang="en-US" dirty="0"/>
              <a:t>Phase 2: Design &amp; Prototyping (2 Weeks):</a:t>
            </a:r>
          </a:p>
          <a:p>
            <a:pPr lvl="0"/>
            <a:r>
              <a:rPr lang="en-US" dirty="0"/>
              <a:t>Design architecture, create UI wireframes, build a basic prototype.</a:t>
            </a:r>
          </a:p>
          <a:p>
            <a:pPr lvl="0"/>
            <a:r>
              <a:rPr lang="en-US" dirty="0"/>
              <a:t>Phase 3: Development (2 Weeks):</a:t>
            </a:r>
          </a:p>
          <a:p>
            <a:pPr lvl="0"/>
            <a:r>
              <a:rPr lang="en-US" dirty="0"/>
              <a:t>Develop modules, integrate AI/ML, and automate workflows.</a:t>
            </a:r>
          </a:p>
          <a:p>
            <a:pPr lvl="0"/>
            <a:r>
              <a:rPr lang="en-US" dirty="0"/>
              <a:t>Phase 4: Testing &amp; Debugging (2 Weeks):</a:t>
            </a:r>
          </a:p>
          <a:p>
            <a:pPr lvl="0"/>
            <a:r>
              <a:rPr lang="en-US" dirty="0"/>
              <a:t>Test functionality, fix bugs, optimize performance.</a:t>
            </a:r>
          </a:p>
          <a:p>
            <a:pPr lvl="0"/>
            <a:r>
              <a:rPr lang="en-US" dirty="0"/>
              <a:t>Phase 5: Deployment &amp; Documentation (2 Weeks):</a:t>
            </a:r>
          </a:p>
          <a:p>
            <a:pPr lvl="0"/>
            <a:r>
              <a:rPr lang="en-US" dirty="0"/>
              <a:t>Deploy the platform, create user guides, and provide training.</a:t>
            </a:r>
          </a:p>
          <a:p>
            <a:pPr lvl="0"/>
            <a:r>
              <a:rPr lang="en-US" dirty="0"/>
              <a:t>Phase 6: Maintenance &amp; Updates (Ongoing):</a:t>
            </a:r>
          </a:p>
          <a:p>
            <a:pPr lvl="0"/>
            <a:r>
              <a:rPr lang="en-US" dirty="0"/>
              <a:t>Regular updates, feature enhancements, and user support.</a:t>
            </a:r>
          </a:p>
          <a:p>
            <a:r>
              <a:rPr lang="en-US" b="1" dirty="0"/>
              <a:t>Outcome</a:t>
            </a:r>
            <a:r>
              <a:rPr lang="en-US" dirty="0"/>
              <a:t>:</a:t>
            </a:r>
          </a:p>
          <a:p>
            <a:pPr lvl="0"/>
            <a:r>
              <a:rPr lang="en-US" dirty="0"/>
              <a:t>A scalable, user-friendly platform for proactive cybersecurity and compliance..</a:t>
            </a:r>
          </a:p>
        </p:txBody>
      </p:sp>
      <p:sp>
        <p:nvSpPr>
          <p:cNvPr id="9" name="Footer Placeholder 8">
            <a:extLst>
              <a:ext uri="{FF2B5EF4-FFF2-40B4-BE49-F238E27FC236}">
                <a16:creationId xmlns:a16="http://schemas.microsoft.com/office/drawing/2014/main" id="{A44688C6-649E-B712-519E-93FF7C0338C9}"/>
              </a:ext>
            </a:extLst>
          </p:cNvPr>
          <p:cNvSpPr>
            <a:spLocks noGrp="1"/>
          </p:cNvSpPr>
          <p:nvPr>
            <p:ph type="ftr" sz="quarter" idx="11"/>
          </p:nvPr>
        </p:nvSpPr>
        <p:spPr>
          <a:xfrm>
            <a:off x="-29" y="6459786"/>
            <a:ext cx="1818585" cy="365125"/>
          </a:xfrm>
        </p:spPr>
        <p:txBody>
          <a:bodyPr/>
          <a:lstStyle/>
          <a:p>
            <a:r>
              <a:rPr lang="en-US" dirty="0"/>
              <a:t>HUNTBOX</a:t>
            </a:r>
          </a:p>
        </p:txBody>
      </p:sp>
      <p:sp>
        <p:nvSpPr>
          <p:cNvPr id="2" name="TextBox 1">
            <a:extLst>
              <a:ext uri="{FF2B5EF4-FFF2-40B4-BE49-F238E27FC236}">
                <a16:creationId xmlns:a16="http://schemas.microsoft.com/office/drawing/2014/main" id="{055B6836-AD26-75AE-7760-0A6A1DBE5C81}"/>
              </a:ext>
            </a:extLst>
          </p:cNvPr>
          <p:cNvSpPr txBox="1"/>
          <p:nvPr/>
        </p:nvSpPr>
        <p:spPr>
          <a:xfrm>
            <a:off x="591173" y="363289"/>
            <a:ext cx="882226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PROJECT PLAN</a:t>
            </a:r>
          </a:p>
        </p:txBody>
      </p:sp>
    </p:spTree>
    <p:extLst>
      <p:ext uri="{BB962C8B-B14F-4D97-AF65-F5344CB8AC3E}">
        <p14:creationId xmlns:p14="http://schemas.microsoft.com/office/powerpoint/2010/main" val="1035663751"/>
      </p:ext>
    </p:extLst>
  </p:cSld>
  <p:clrMapOvr>
    <a:masterClrMapping/>
  </p:clrMapOvr>
</p:sld>
</file>

<file path=ppt/theme/theme1.xml><?xml version="1.0" encoding="utf-8"?>
<a:theme xmlns:a="http://schemas.openxmlformats.org/drawingml/2006/main" name="Retrospec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228</TotalTime>
  <Words>2027</Words>
  <Application>Microsoft Office PowerPoint</Application>
  <PresentationFormat>On-screen Show (4:3)</PresentationFormat>
  <Paragraphs>205</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Times New Roman</vt:lpstr>
      <vt:lpstr>Retrospect</vt:lpstr>
      <vt:lpstr>HUNT BOX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Mihir</dc:creator>
  <cp:lastModifiedBy>Kali Bhai</cp:lastModifiedBy>
  <cp:revision>20</cp:revision>
  <dcterms:created xsi:type="dcterms:W3CDTF">2017-05-16T07:00:22Z</dcterms:created>
  <dcterms:modified xsi:type="dcterms:W3CDTF">2025-07-18T06:01:57Z</dcterms:modified>
</cp:coreProperties>
</file>